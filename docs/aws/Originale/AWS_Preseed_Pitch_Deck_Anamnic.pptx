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</p:sldMasterIdLst>
  <p:notesMasterIdLst>
    <p:notesMasterId r:id="rId23"/>
  </p:notesMasterIdLst>
  <p:sldIdLst>
    <p:sldId id="274" r:id="rId3"/>
    <p:sldId id="291" r:id="rId4"/>
    <p:sldId id="263" r:id="rId5"/>
    <p:sldId id="258" r:id="rId6"/>
    <p:sldId id="292" r:id="rId7"/>
    <p:sldId id="259" r:id="rId8"/>
    <p:sldId id="260" r:id="rId9"/>
    <p:sldId id="261" r:id="rId10"/>
    <p:sldId id="278" r:id="rId11"/>
    <p:sldId id="279" r:id="rId12"/>
    <p:sldId id="290" r:id="rId13"/>
    <p:sldId id="265" r:id="rId14"/>
    <p:sldId id="266" r:id="rId15"/>
    <p:sldId id="267" r:id="rId16"/>
    <p:sldId id="268" r:id="rId17"/>
    <p:sldId id="269" r:id="rId18"/>
    <p:sldId id="270" r:id="rId19"/>
    <p:sldId id="289" r:id="rId20"/>
    <p:sldId id="287" r:id="rId21"/>
    <p:sldId id="275" r:id="rId2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9819"/>
    <a:srgbClr val="E8F5F2"/>
    <a:srgbClr val="0E6B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74E180-D17A-4FD5-BE4A-8AB6C0F2D464}" type="datetimeFigureOut">
              <a:rPr lang="de-AT" smtClean="0"/>
              <a:t>20.03.2026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19FD6C-365E-4B2E-8414-6C78FFA66BB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10597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26A3E-F8EB-89EE-6E85-76EB9360B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425CE3-D7E7-7943-FCF6-02197D53CE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89405D-F0FC-BE17-9397-EDE27B936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333D-7DC8-0638-4E5D-2ABD9C9EB1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41972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F42C4-6731-5438-3A4E-B1AB46E71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632F2D-62B0-A5FC-6BE2-53358E3359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54F558-3CA7-A479-C2D6-7132B7BC65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E189F4-9970-0B22-0D9D-25884B5DA4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25609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08813-82B9-03FF-CE30-8D4C2B293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24E8E4-1E2E-F9ED-098F-2B15A7FA4C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170C24-FB7A-EAB1-D455-DEBF49F2C6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4FCF4-7156-9D54-F7AD-DC84E7C229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61587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3296C-389C-F35B-AB10-DAF9F9893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7F57BC-3273-3CC3-982F-A716A27BD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EAA816-E33A-C06C-AC64-F8182C315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88916-FA7D-C36C-A890-067136F0F9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88224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071C6-DF27-1E3F-5253-58063BFB4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918C03-5394-3506-7198-C418553565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F1B863-E7AA-41BF-D809-0E6C22DBD6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8E258C-9D87-38DB-F97B-AA5697CFE7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71963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0767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2236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6832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0072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6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0960"/>
          </a:xfrm>
          <a:prstGeom prst="rect">
            <a:avLst/>
          </a:prstGeom>
          <a:solidFill>
            <a:srgbClr val="F09819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853440"/>
            <a:ext cx="1950720" cy="19141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3048000"/>
            <a:ext cx="10728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56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ANAMNIC</a:t>
            </a:r>
            <a:endParaRPr lang="en-US" sz="5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2"/>
          <p:cNvSpPr/>
          <p:nvPr/>
        </p:nvSpPr>
        <p:spPr>
          <a:xfrm>
            <a:off x="731520" y="3840480"/>
            <a:ext cx="10728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 err="1">
                <a:solidFill>
                  <a:srgbClr val="7F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Telefonbasierte</a:t>
            </a:r>
            <a:r>
              <a:rPr lang="en-US" sz="2000" dirty="0">
                <a:solidFill>
                  <a:srgbClr val="7F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Voice-KI für </a:t>
            </a:r>
            <a:r>
              <a:rPr lang="en-US" sz="2000" dirty="0" err="1">
                <a:solidFill>
                  <a:srgbClr val="7F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strukturierte</a:t>
            </a:r>
            <a:r>
              <a:rPr lang="en-US" sz="2000" dirty="0">
                <a:solidFill>
                  <a:srgbClr val="7F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000" dirty="0" err="1">
                <a:solidFill>
                  <a:srgbClr val="7F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barrierearme</a:t>
            </a:r>
            <a:endParaRPr lang="en-US" sz="2000" dirty="0"/>
          </a:p>
          <a:p>
            <a:pPr algn="ctr"/>
            <a:r>
              <a:rPr lang="en-US" sz="2000" dirty="0" err="1">
                <a:solidFill>
                  <a:srgbClr val="7F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medizinische</a:t>
            </a:r>
            <a:r>
              <a:rPr lang="en-US" sz="2000" dirty="0">
                <a:solidFill>
                  <a:srgbClr val="7F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7F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Anamnese</a:t>
            </a:r>
            <a:r>
              <a:rPr lang="en-US" sz="2000" dirty="0">
                <a:solidFill>
                  <a:srgbClr val="7F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7F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</a:t>
            </a:r>
            <a:r>
              <a:rPr lang="en-US" sz="2000" dirty="0">
                <a:solidFill>
                  <a:srgbClr val="7F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dem </a:t>
            </a:r>
            <a:r>
              <a:rPr lang="en-US" sz="2000" dirty="0" err="1">
                <a:solidFill>
                  <a:srgbClr val="7F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Arztgespräch</a:t>
            </a:r>
            <a:r>
              <a:rPr lang="en-US" sz="2000" dirty="0">
                <a:solidFill>
                  <a:srgbClr val="7F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4693920"/>
            <a:ext cx="1072896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Fehringer, BSc. MSc.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6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Preeseed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Innovative Solutions  </a:t>
            </a:r>
            <a:endParaRPr lang="en-US" sz="1733" dirty="0">
              <a:solidFill>
                <a:schemeClr val="bg1"/>
              </a:solidFill>
              <a:latin typeface="Calibri" panose="020F0502020204030204"/>
            </a:endParaRPr>
          </a:p>
          <a:p>
            <a:pPr algn="ctr" defTabSz="1219170"/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März 2026</a:t>
            </a:r>
            <a:endParaRPr lang="en-US" sz="1733" dirty="0">
              <a:solidFill>
                <a:schemeClr val="bg1"/>
              </a:solidFill>
              <a:latin typeface="Calibri" panose="020F0502020204030204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0912" y="304800"/>
            <a:ext cx="2926080" cy="6827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70560"/>
          </a:xfrm>
          <a:prstGeom prst="rect">
            <a:avLst/>
          </a:prstGeom>
          <a:solidFill>
            <a:srgbClr val="0E6B5F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60960"/>
            <a:ext cx="609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Preseed – Innovative Solutions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85344"/>
            <a:ext cx="487680" cy="487680"/>
          </a:xfrm>
          <a:prstGeom prst="rect">
            <a:avLst/>
          </a:prstGeom>
        </p:spPr>
      </p:pic>
      <p:sp>
        <p:nvSpPr>
          <p:cNvPr id="5" name="Title"/>
          <p:cNvSpPr/>
          <p:nvPr/>
        </p:nvSpPr>
        <p:spPr>
          <a:xfrm>
            <a:off x="731520" y="853440"/>
            <a:ext cx="10728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de-AT" sz="347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Inhalt</a:t>
            </a:r>
            <a:endParaRPr lang="de-AT" sz="347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OC Left"/>
          <p:cNvSpPr/>
          <p:nvPr/>
        </p:nvSpPr>
        <p:spPr>
          <a:xfrm>
            <a:off x="731520" y="1600200"/>
            <a:ext cx="518160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2800"/>
              </a:lnSpc>
              <a:spcAft>
                <a:spcPts val="1200"/>
              </a:spcAft>
            </a:pPr>
            <a:r>
              <a:rPr lang="de-AT" sz="2400" b="1" dirty="0">
                <a:solidFill>
                  <a:srgbClr val="F09819"/>
                </a:solidFill>
                <a:latin typeface="Calibri" pitchFamily="34" charset="0"/>
              </a:rPr>
              <a:t>01</a:t>
            </a:r>
            <a:r>
              <a:rPr lang="de-AT" sz="2000" b="1" dirty="0">
                <a:solidFill>
                  <a:srgbClr val="F09819"/>
                </a:solidFill>
                <a:latin typeface="Calibri" pitchFamily="34" charset="0"/>
              </a:rPr>
              <a:t>  </a:t>
            </a:r>
            <a:r>
              <a:rPr lang="de-AT" sz="2000" dirty="0">
                <a:solidFill>
                  <a:srgbClr val="2D2D2D"/>
                </a:solidFill>
                <a:latin typeface="Calibri" pitchFamily="34" charset="0"/>
              </a:rPr>
              <a:t>P</a:t>
            </a:r>
            <a:r>
              <a:rPr lang="de-AT" sz="2400" dirty="0">
                <a:solidFill>
                  <a:srgbClr val="2D2D2D"/>
                </a:solidFill>
                <a:latin typeface="Calibri" pitchFamily="34" charset="0"/>
              </a:rPr>
              <a:t>roblemstellung</a:t>
            </a:r>
          </a:p>
          <a:p>
            <a:pPr defTabSz="1219170">
              <a:lnSpc>
                <a:spcPts val="2800"/>
              </a:lnSpc>
              <a:spcAft>
                <a:spcPts val="1200"/>
              </a:spcAft>
            </a:pPr>
            <a:r>
              <a:rPr lang="de-AT" sz="2400" b="1" dirty="0">
                <a:solidFill>
                  <a:srgbClr val="F09819"/>
                </a:solidFill>
                <a:latin typeface="Calibri" pitchFamily="34" charset="0"/>
              </a:rPr>
              <a:t>02  </a:t>
            </a:r>
            <a:r>
              <a:rPr lang="de-AT" sz="2400" dirty="0">
                <a:solidFill>
                  <a:srgbClr val="2D2D2D"/>
                </a:solidFill>
                <a:latin typeface="Calibri" pitchFamily="34" charset="0"/>
              </a:rPr>
              <a:t>Lösung / impactspezifische Innovation</a:t>
            </a:r>
          </a:p>
          <a:p>
            <a:pPr defTabSz="1219170">
              <a:lnSpc>
                <a:spcPts val="2800"/>
              </a:lnSpc>
              <a:spcAft>
                <a:spcPts val="1200"/>
              </a:spcAft>
            </a:pPr>
            <a:r>
              <a:rPr lang="de-AT" sz="2400" b="1" dirty="0">
                <a:solidFill>
                  <a:srgbClr val="F09819"/>
                </a:solidFill>
                <a:latin typeface="Calibri" pitchFamily="34" charset="0"/>
              </a:rPr>
              <a:t>03  </a:t>
            </a:r>
            <a:r>
              <a:rPr lang="de-AT" sz="2400" dirty="0">
                <a:solidFill>
                  <a:srgbClr val="2D2D2D"/>
                </a:solidFill>
                <a:latin typeface="Calibri" pitchFamily="34" charset="0"/>
              </a:rPr>
              <a:t>Use Cases</a:t>
            </a:r>
          </a:p>
          <a:p>
            <a:pPr defTabSz="1219170">
              <a:lnSpc>
                <a:spcPts val="2800"/>
              </a:lnSpc>
              <a:spcAft>
                <a:spcPts val="1200"/>
              </a:spcAft>
            </a:pPr>
            <a:r>
              <a:rPr lang="de-AT" sz="2400" b="1" dirty="0">
                <a:solidFill>
                  <a:srgbClr val="F09819"/>
                </a:solidFill>
                <a:latin typeface="Calibri" pitchFamily="34" charset="0"/>
              </a:rPr>
              <a:t>04  </a:t>
            </a:r>
            <a:r>
              <a:rPr lang="de-AT" sz="2400" dirty="0">
                <a:solidFill>
                  <a:srgbClr val="2D2D2D"/>
                </a:solidFill>
                <a:latin typeface="Calibri" pitchFamily="34" charset="0"/>
              </a:rPr>
              <a:t>USP / Alleinstellungsmerkmal</a:t>
            </a:r>
          </a:p>
          <a:p>
            <a:pPr defTabSz="1219170">
              <a:lnSpc>
                <a:spcPts val="2800"/>
              </a:lnSpc>
              <a:spcAft>
                <a:spcPts val="1200"/>
              </a:spcAft>
            </a:pPr>
            <a:r>
              <a:rPr lang="de-AT" sz="2400" b="1" dirty="0">
                <a:solidFill>
                  <a:srgbClr val="F09819"/>
                </a:solidFill>
                <a:latin typeface="Calibri" pitchFamily="34" charset="0"/>
              </a:rPr>
              <a:t>05  </a:t>
            </a:r>
            <a:r>
              <a:rPr lang="de-AT" sz="2400" dirty="0">
                <a:solidFill>
                  <a:srgbClr val="2D2D2D"/>
                </a:solidFill>
                <a:latin typeface="Calibri" pitchFamily="34" charset="0"/>
              </a:rPr>
              <a:t>Impact / gesellschaftlicher Mehrwert</a:t>
            </a:r>
          </a:p>
          <a:p>
            <a:pPr defTabSz="1219170">
              <a:lnSpc>
                <a:spcPts val="2800"/>
              </a:lnSpc>
              <a:spcAft>
                <a:spcPts val="1200"/>
              </a:spcAft>
            </a:pPr>
            <a:r>
              <a:rPr lang="de-AT" sz="2400" b="1" dirty="0">
                <a:solidFill>
                  <a:srgbClr val="F09819"/>
                </a:solidFill>
                <a:latin typeface="Calibri" pitchFamily="34" charset="0"/>
              </a:rPr>
              <a:t>06  </a:t>
            </a:r>
            <a:r>
              <a:rPr lang="de-AT" sz="2400" dirty="0">
                <a:solidFill>
                  <a:srgbClr val="2D2D2D"/>
                </a:solidFill>
                <a:latin typeface="Calibri" pitchFamily="34" charset="0"/>
              </a:rPr>
              <a:t>Geschäftsmodell</a:t>
            </a:r>
          </a:p>
          <a:p>
            <a:pPr defTabSz="1219170">
              <a:lnSpc>
                <a:spcPts val="2800"/>
              </a:lnSpc>
              <a:spcAft>
                <a:spcPts val="1200"/>
              </a:spcAft>
            </a:pPr>
            <a:r>
              <a:rPr lang="de-AT" sz="2400" b="1" dirty="0">
                <a:solidFill>
                  <a:srgbClr val="F09819"/>
                </a:solidFill>
                <a:latin typeface="Calibri" pitchFamily="34" charset="0"/>
              </a:rPr>
              <a:t>07  </a:t>
            </a:r>
            <a:r>
              <a:rPr lang="de-AT" sz="2400" dirty="0">
                <a:solidFill>
                  <a:srgbClr val="2D2D2D"/>
                </a:solidFill>
                <a:latin typeface="Calibri" pitchFamily="34" charset="0"/>
              </a:rPr>
              <a:t>Markt</a:t>
            </a:r>
          </a:p>
          <a:p>
            <a:pPr defTabSz="1219170">
              <a:lnSpc>
                <a:spcPts val="2800"/>
              </a:lnSpc>
              <a:spcAft>
                <a:spcPts val="1200"/>
              </a:spcAft>
            </a:pPr>
            <a:r>
              <a:rPr lang="de-AT" sz="2400" b="1" dirty="0">
                <a:solidFill>
                  <a:srgbClr val="F09819"/>
                </a:solidFill>
                <a:latin typeface="Calibri" pitchFamily="34" charset="0"/>
              </a:rPr>
              <a:t>08  </a:t>
            </a:r>
            <a:r>
              <a:rPr lang="de-AT" sz="2400" dirty="0">
                <a:solidFill>
                  <a:srgbClr val="2D2D2D"/>
                </a:solidFill>
                <a:latin typeface="Calibri" pitchFamily="34" charset="0"/>
              </a:rPr>
              <a:t>Mitbewerb &amp; Umfeld</a:t>
            </a:r>
          </a:p>
        </p:txBody>
      </p:sp>
      <p:sp>
        <p:nvSpPr>
          <p:cNvPr id="7" name="TOC Right"/>
          <p:cNvSpPr/>
          <p:nvPr/>
        </p:nvSpPr>
        <p:spPr>
          <a:xfrm>
            <a:off x="6400800" y="1600200"/>
            <a:ext cx="518160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2800"/>
              </a:lnSpc>
              <a:spcAft>
                <a:spcPts val="1200"/>
              </a:spcAft>
            </a:pPr>
            <a:r>
              <a:rPr lang="de-AT" sz="2400" b="1" dirty="0">
                <a:solidFill>
                  <a:srgbClr val="F09819"/>
                </a:solidFill>
                <a:latin typeface="Calibri" pitchFamily="34" charset="0"/>
              </a:rPr>
              <a:t>09  </a:t>
            </a:r>
            <a:r>
              <a:rPr lang="de-AT" sz="2400" dirty="0">
                <a:solidFill>
                  <a:srgbClr val="2D2D2D"/>
                </a:solidFill>
                <a:latin typeface="Calibri" pitchFamily="34" charset="0"/>
              </a:rPr>
              <a:t>Team</a:t>
            </a:r>
          </a:p>
          <a:p>
            <a:pPr defTabSz="1219170">
              <a:lnSpc>
                <a:spcPts val="2800"/>
              </a:lnSpc>
              <a:spcAft>
                <a:spcPts val="1200"/>
              </a:spcAft>
            </a:pPr>
            <a:r>
              <a:rPr lang="de-AT" sz="2400" b="1" dirty="0">
                <a:solidFill>
                  <a:srgbClr val="F09819"/>
                </a:solidFill>
                <a:latin typeface="Calibri" pitchFamily="34" charset="0"/>
              </a:rPr>
              <a:t>10  </a:t>
            </a:r>
            <a:r>
              <a:rPr lang="de-AT" sz="2400" dirty="0">
                <a:solidFill>
                  <a:srgbClr val="2D2D2D"/>
                </a:solidFill>
                <a:latin typeface="Calibri" pitchFamily="34" charset="0"/>
              </a:rPr>
              <a:t>Kooperationen</a:t>
            </a:r>
          </a:p>
          <a:p>
            <a:pPr defTabSz="1219170">
              <a:lnSpc>
                <a:spcPts val="2800"/>
              </a:lnSpc>
              <a:spcAft>
                <a:spcPts val="1200"/>
              </a:spcAft>
            </a:pPr>
            <a:r>
              <a:rPr lang="de-AT" sz="2400" b="1" dirty="0">
                <a:solidFill>
                  <a:srgbClr val="F09819"/>
                </a:solidFill>
                <a:latin typeface="Calibri" pitchFamily="34" charset="0"/>
              </a:rPr>
              <a:t>11  </a:t>
            </a:r>
            <a:r>
              <a:rPr lang="de-AT" sz="2400" dirty="0">
                <a:solidFill>
                  <a:srgbClr val="2D2D2D"/>
                </a:solidFill>
                <a:latin typeface="Calibri" pitchFamily="34" charset="0"/>
              </a:rPr>
              <a:t>Status Quo &amp; Next Steps</a:t>
            </a:r>
          </a:p>
          <a:p>
            <a:pPr defTabSz="1219170">
              <a:lnSpc>
                <a:spcPts val="2800"/>
              </a:lnSpc>
              <a:spcAft>
                <a:spcPts val="1200"/>
              </a:spcAft>
            </a:pPr>
            <a:r>
              <a:rPr lang="de-AT" sz="2400" b="1" dirty="0">
                <a:solidFill>
                  <a:srgbClr val="F09819"/>
                </a:solidFill>
                <a:latin typeface="Calibri" pitchFamily="34" charset="0"/>
              </a:rPr>
              <a:t>12  </a:t>
            </a:r>
            <a:r>
              <a:rPr lang="de-AT" sz="2400" dirty="0">
                <a:solidFill>
                  <a:srgbClr val="2D2D2D"/>
                </a:solidFill>
                <a:latin typeface="Calibri" pitchFamily="34" charset="0"/>
              </a:rPr>
              <a:t>Herausforderungen &amp; Risiken</a:t>
            </a:r>
          </a:p>
          <a:p>
            <a:pPr defTabSz="1219170">
              <a:lnSpc>
                <a:spcPts val="2800"/>
              </a:lnSpc>
              <a:spcAft>
                <a:spcPts val="1200"/>
              </a:spcAft>
            </a:pPr>
            <a:r>
              <a:rPr lang="de-AT" sz="2400" b="1" dirty="0">
                <a:solidFill>
                  <a:srgbClr val="F09819"/>
                </a:solidFill>
                <a:latin typeface="Calibri" pitchFamily="34" charset="0"/>
              </a:rPr>
              <a:t>13  </a:t>
            </a:r>
            <a:r>
              <a:rPr lang="de-AT" sz="2400" dirty="0">
                <a:solidFill>
                  <a:srgbClr val="2D2D2D"/>
                </a:solidFill>
                <a:latin typeface="Calibri" pitchFamily="34" charset="0"/>
              </a:rPr>
              <a:t>Vision &amp; Wachstum</a:t>
            </a:r>
          </a:p>
          <a:p>
            <a:pPr defTabSz="1219170">
              <a:lnSpc>
                <a:spcPts val="2800"/>
              </a:lnSpc>
              <a:spcAft>
                <a:spcPts val="1200"/>
              </a:spcAft>
            </a:pPr>
            <a:r>
              <a:rPr lang="de-AT" sz="2400" b="1" dirty="0">
                <a:solidFill>
                  <a:srgbClr val="F09819"/>
                </a:solidFill>
                <a:latin typeface="Calibri" pitchFamily="34" charset="0"/>
              </a:rPr>
              <a:t>14  </a:t>
            </a:r>
            <a:r>
              <a:rPr lang="de-AT" sz="2400" dirty="0">
                <a:solidFill>
                  <a:srgbClr val="2D2D2D"/>
                </a:solidFill>
                <a:latin typeface="Calibri" pitchFamily="34" charset="0"/>
              </a:rPr>
              <a:t>Quellen</a:t>
            </a:r>
          </a:p>
        </p:txBody>
      </p:sp>
      <p:sp>
        <p:nvSpPr>
          <p:cNvPr id="8" name="Divider"/>
          <p:cNvSpPr/>
          <p:nvPr/>
        </p:nvSpPr>
        <p:spPr>
          <a:xfrm>
            <a:off x="6095999" y="1600200"/>
            <a:ext cx="45719" cy="4404360"/>
          </a:xfrm>
          <a:prstGeom prst="rect">
            <a:avLst/>
          </a:prstGeom>
          <a:solidFill>
            <a:srgbClr val="0E6B5F"/>
          </a:solidFill>
          <a:ln>
            <a:noFill/>
          </a:ln>
        </p:spPr>
        <p:txBody>
          <a:bodyPr/>
          <a:lstStyle/>
          <a:p>
            <a:endParaRPr lang="de-AT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70560"/>
          </a:xfrm>
          <a:prstGeom prst="rect">
            <a:avLst/>
          </a:prstGeom>
          <a:solidFill>
            <a:srgbClr val="0E6B5F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60960"/>
            <a:ext cx="609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Preseed – Innovative Solutions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720" y="85344"/>
            <a:ext cx="487680" cy="48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38560" y="6339840"/>
            <a:ext cx="60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731520" y="853440"/>
            <a:ext cx="10728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Problemstellung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09600" y="1676400"/>
            <a:ext cx="5242560" cy="3169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09600" y="1676400"/>
            <a:ext cx="5242560" cy="548640"/>
          </a:xfrm>
          <a:prstGeom prst="rect">
            <a:avLst/>
          </a:prstGeom>
          <a:solidFill>
            <a:srgbClr val="0E6B5F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53440" y="16764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Zeitkrise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System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53440" y="2346960"/>
            <a:ext cx="4754880" cy="231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09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51,6 %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der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ärztlichen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Arbeitszeit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entfällt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auf Administration. </a:t>
            </a: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800" dirty="0"/>
          </a:p>
          <a:p>
            <a:endParaRPr lang="en-US" sz="1600" dirty="0"/>
          </a:p>
          <a:p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Konsultationsdauer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Österreich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beträgt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Schnitt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F09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</a:t>
            </a:r>
            <a:r>
              <a:rPr lang="en-US" sz="1600" b="1" dirty="0" err="1">
                <a:solidFill>
                  <a:srgbClr val="F09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Minuten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(EU-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Schlusslicht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800" dirty="0"/>
          </a:p>
          <a:p>
            <a:endParaRPr lang="en-US" sz="1600" dirty="0"/>
          </a:p>
          <a:p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Anamnese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erfolgt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oft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massivem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Zeitdruck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auf Kosten der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Behandlungsqualität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339840" y="1676400"/>
            <a:ext cx="5242560" cy="3169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de-A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339840" y="1676400"/>
            <a:ext cx="5242560" cy="548640"/>
          </a:xfrm>
          <a:prstGeom prst="rect">
            <a:avLst/>
          </a:prstGeom>
          <a:solidFill>
            <a:srgbClr val="0E6B5F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583680" y="16764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Exklusion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779520" y="5547360"/>
            <a:ext cx="28041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949440" y="5547360"/>
            <a:ext cx="28041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4C3EDDBB-B53F-3122-BCC6-DF93DB8AA507}"/>
              </a:ext>
            </a:extLst>
          </p:cNvPr>
          <p:cNvSpPr/>
          <p:nvPr/>
        </p:nvSpPr>
        <p:spPr>
          <a:xfrm>
            <a:off x="6583680" y="2346960"/>
            <a:ext cx="4754880" cy="231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Bestehende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Lösungen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primär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formularbasiert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endParaRPr lang="en-US" sz="1600" dirty="0"/>
          </a:p>
          <a:p>
            <a:r>
              <a:rPr lang="en-US" sz="1600" b="1" dirty="0">
                <a:solidFill>
                  <a:srgbClr val="F09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23 %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der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65-Jährigen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nutzen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Smartphone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regelmäßig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8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Menschen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Lese-/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Schreibschwierigkeiten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Seh-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oder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motorischen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Einschränkungen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werden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durch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schriftliche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Formulare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benachteiligt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endParaRPr lang="en-US" sz="14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BF1D43E9-E612-F150-915C-4A5EF39BB9A1}"/>
              </a:ext>
            </a:extLst>
          </p:cNvPr>
          <p:cNvSpPr/>
          <p:nvPr/>
        </p:nvSpPr>
        <p:spPr>
          <a:xfrm>
            <a:off x="609600" y="5044440"/>
            <a:ext cx="10972800" cy="1234440"/>
          </a:xfrm>
          <a:prstGeom prst="rect">
            <a:avLst/>
          </a:prstGeom>
          <a:solidFill>
            <a:srgbClr val="E8F5F2"/>
          </a:solidFill>
          <a:ln/>
        </p:spPr>
        <p:txBody>
          <a:bodyPr/>
          <a:lstStyle/>
          <a:p>
            <a:r>
              <a:rPr lang="en-US" sz="1600" b="1" dirty="0" err="1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Daraus</a:t>
            </a:r>
            <a:r>
              <a:rPr lang="en-US" sz="1600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folgt</a:t>
            </a:r>
            <a:r>
              <a:rPr lang="en-US" sz="1600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</a:p>
          <a:p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Zeitmangel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in der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medizinischen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Versorgung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und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digitale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Ausschlüsse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gefährden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den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Zugang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breiter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Bevölkerungsteile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zu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qualitativer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Gesundheitsversorgung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Aktuelle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digitale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Standardlösungen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verlagern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den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Aufwand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oft auf die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Patient:innen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und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schaffen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so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neue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Zugangsbarrieren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70560"/>
          </a:xfrm>
          <a:prstGeom prst="rect">
            <a:avLst/>
          </a:prstGeom>
          <a:solidFill>
            <a:srgbClr val="0E6B5F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60960"/>
            <a:ext cx="609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Preseed – Innovative Solutions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720" y="85344"/>
            <a:ext cx="487680" cy="48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38560" y="6339840"/>
            <a:ext cx="60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731520" y="853440"/>
            <a:ext cx="10728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7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Lösung / </a:t>
            </a:r>
            <a:r>
              <a:rPr lang="en-US" sz="3470" b="1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impactspezifische</a:t>
            </a:r>
            <a:r>
              <a:rPr lang="en-US" sz="347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Innovation (1)</a:t>
            </a:r>
            <a:endParaRPr lang="en-US" sz="347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09600" y="1810512"/>
            <a:ext cx="3291840" cy="1584960"/>
          </a:xfrm>
          <a:prstGeom prst="rect">
            <a:avLst/>
          </a:prstGeom>
          <a:solidFill>
            <a:srgbClr val="0E6B5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40" y="1993392"/>
            <a:ext cx="487680" cy="4876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1932432"/>
            <a:ext cx="237134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Automatisierter Anruf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7"/>
          <p:cNvSpPr/>
          <p:nvPr/>
        </p:nvSpPr>
        <p:spPr>
          <a:xfrm>
            <a:off x="853440" y="2542032"/>
            <a:ext cx="280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Patient:in wird vor dem Termin vom System angerufen.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8"/>
          <p:cNvSpPr/>
          <p:nvPr/>
        </p:nvSpPr>
        <p:spPr>
          <a:xfrm>
            <a:off x="4005072" y="2420112"/>
            <a:ext cx="31699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dirty="0">
                <a:solidFill>
                  <a:srgbClr val="0E6B5F"/>
                </a:solidFill>
                <a:latin typeface="Calibri" panose="020F0502020204030204"/>
              </a:rPr>
              <a:t>▶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386072" y="1810512"/>
            <a:ext cx="3291840" cy="1584960"/>
          </a:xfrm>
          <a:prstGeom prst="rect">
            <a:avLst/>
          </a:prstGeom>
          <a:solidFill>
            <a:srgbClr val="0E6B5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1040" y="1993392"/>
            <a:ext cx="487680" cy="4876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20640" y="1932432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KI-Gespräch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4511040" y="2542032"/>
            <a:ext cx="280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Strukturierte, empathische Abfrage der Symptome in natürlicher Sprache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7764780" y="2420112"/>
            <a:ext cx="31699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dirty="0">
                <a:solidFill>
                  <a:srgbClr val="0E6B5F"/>
                </a:solidFill>
                <a:latin typeface="Calibri" panose="020F0502020204030204"/>
              </a:rPr>
              <a:t>▶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8229600" y="1810512"/>
            <a:ext cx="3291840" cy="1584960"/>
          </a:xfrm>
          <a:prstGeom prst="rect">
            <a:avLst/>
          </a:prstGeom>
          <a:solidFill>
            <a:srgbClr val="0E6B5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8556" y="1932432"/>
            <a:ext cx="487680" cy="4876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778240" y="1932432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Praxis-Bericht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8412480" y="2590800"/>
            <a:ext cx="280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 liegen vor dem Termin strukturiert (und exportierbar) bereit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16"/>
          <p:cNvSpPr/>
          <p:nvPr/>
        </p:nvSpPr>
        <p:spPr>
          <a:xfrm>
            <a:off x="609600" y="3639312"/>
            <a:ext cx="5242560" cy="20756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609600" y="3639312"/>
            <a:ext cx="121920" cy="2075688"/>
          </a:xfrm>
          <a:prstGeom prst="rect">
            <a:avLst/>
          </a:prstGeom>
          <a:solidFill>
            <a:srgbClr val="0E6B5F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914400" y="3700272"/>
            <a:ext cx="4754880" cy="1871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Patient:innen: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Einfach</a:t>
            </a: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erzählen</a:t>
            </a:r>
            <a:endParaRPr lang="en-US" sz="1600" dirty="0">
              <a:solidFill>
                <a:srgbClr val="2D374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</a:t>
            </a: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Formulare</a:t>
            </a:r>
            <a:endParaRPr lang="en-US" sz="1600" dirty="0">
              <a:solidFill>
                <a:srgbClr val="2D374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unkompliziertes</a:t>
            </a: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Nachfragen</a:t>
            </a:r>
            <a:endParaRPr lang="en-US" sz="1600" dirty="0">
              <a:solidFill>
                <a:srgbClr val="2D374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</a:t>
            </a: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Smartphone </a:t>
            </a:r>
            <a:r>
              <a:rPr lang="en-US" sz="16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nötig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339840" y="3639312"/>
            <a:ext cx="5242560" cy="20756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0"/>
          <p:cNvSpPr/>
          <p:nvPr/>
        </p:nvSpPr>
        <p:spPr>
          <a:xfrm>
            <a:off x="6339840" y="3639312"/>
            <a:ext cx="121920" cy="2075688"/>
          </a:xfrm>
          <a:prstGeom prst="rect">
            <a:avLst/>
          </a:prstGeom>
          <a:solidFill>
            <a:srgbClr val="0E6B5F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6644640" y="3700272"/>
            <a:ext cx="4754880" cy="1871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Ärzt:innen: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Strukturierte</a:t>
            </a: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</a:t>
            </a: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</a:t>
            </a: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dem Termin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gezielte</a:t>
            </a: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Rückfragen</a:t>
            </a: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statt</a:t>
            </a: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Grunderhebung</a:t>
            </a:r>
            <a:endParaRPr lang="en-US" sz="1600" dirty="0">
              <a:solidFill>
                <a:srgbClr val="2D374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</a:t>
            </a: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Zeit für </a:t>
            </a:r>
            <a:r>
              <a:rPr lang="en-US" sz="16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Medizin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70560"/>
          </a:xfrm>
          <a:prstGeom prst="rect">
            <a:avLst/>
          </a:prstGeom>
          <a:solidFill>
            <a:srgbClr val="0E6B5F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60960"/>
            <a:ext cx="609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Preseed – Innovative Solutions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Log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720" y="85344"/>
            <a:ext cx="487680" cy="48768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609600" y="9144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70" b="1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Lösung</a:t>
            </a:r>
            <a:r>
              <a:rPr lang="en-US" sz="347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3470" b="1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impactspezifische</a:t>
            </a:r>
            <a:r>
              <a:rPr lang="en-US" sz="347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Innovation (2)</a:t>
            </a:r>
            <a:endParaRPr lang="en-US" sz="3470" dirty="0">
              <a:solidFill>
                <a:prstClr val="black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09600" y="1828800"/>
            <a:ext cx="5242560" cy="1889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53440" y="2072640"/>
            <a:ext cx="609600" cy="609600"/>
          </a:xfrm>
          <a:prstGeom prst="ellipse">
            <a:avLst/>
          </a:prstGeom>
          <a:solidFill>
            <a:srgbClr val="0E6B5F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360" y="219456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45920" y="2072640"/>
            <a:ext cx="39014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 </a:t>
            </a:r>
            <a:r>
              <a:rPr lang="en-US" b="1" dirty="0" err="1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</a:t>
            </a:r>
            <a:r>
              <a:rPr lang="en-US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reif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645920" y="2499360"/>
            <a:ext cx="39014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ermöglichen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natürliche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deutschsprachige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Gespräche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sp>
        <p:nvSpPr>
          <p:cNvPr id="12" name="Shape 9"/>
          <p:cNvSpPr/>
          <p:nvPr/>
        </p:nvSpPr>
        <p:spPr>
          <a:xfrm>
            <a:off x="6339840" y="1828800"/>
            <a:ext cx="5242560" cy="1889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583680" y="2072640"/>
            <a:ext cx="609600" cy="609600"/>
          </a:xfrm>
          <a:prstGeom prst="ellipse">
            <a:avLst/>
          </a:prstGeom>
          <a:solidFill>
            <a:srgbClr val="0E6B5F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600" y="219456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76160" y="2072640"/>
            <a:ext cx="39014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 </a:t>
            </a:r>
            <a:r>
              <a:rPr lang="en-US" b="1" dirty="0" err="1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</a:t>
            </a:r>
            <a:r>
              <a:rPr lang="en-US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bereit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7376160" y="2499360"/>
            <a:ext cx="39014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Voice-AI im Healthcare wächst jährlich um 37,79%. </a:t>
            </a: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609600" y="4084320"/>
            <a:ext cx="5242560" cy="1889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853440" y="4328160"/>
            <a:ext cx="609600" cy="609600"/>
          </a:xfrm>
          <a:prstGeom prst="ellipse">
            <a:avLst/>
          </a:prstGeom>
          <a:solidFill>
            <a:srgbClr val="0E6B5F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360" y="445008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4328160"/>
            <a:ext cx="39014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Politischer Rückenwind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1645920" y="4754880"/>
            <a:ext cx="4032504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eHealth-Strategie 2024–2030 </a:t>
            </a:r>
          </a:p>
          <a:p>
            <a:pPr defTabSz="1219170"/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(51 Mio. EUR/Jahr) </a:t>
            </a: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</a:t>
            </a:r>
          </a:p>
          <a:p>
            <a:pPr defTabSz="1219170"/>
            <a:endParaRPr lang="en-US" sz="1600" dirty="0">
              <a:solidFill>
                <a:srgbClr val="2D2D2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defTabSz="1219170"/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PVE-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Ausbau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mit 100 Mio. EUR EU-Förderung </a:t>
            </a: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</a:t>
            </a:r>
          </a:p>
        </p:txBody>
      </p:sp>
      <p:sp>
        <p:nvSpPr>
          <p:cNvPr id="22" name="Shape 17"/>
          <p:cNvSpPr/>
          <p:nvPr/>
        </p:nvSpPr>
        <p:spPr>
          <a:xfrm>
            <a:off x="6339840" y="4084320"/>
            <a:ext cx="5242560" cy="1889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6583680" y="4328160"/>
            <a:ext cx="609600" cy="609600"/>
          </a:xfrm>
          <a:prstGeom prst="ellipse">
            <a:avLst/>
          </a:prstGeom>
          <a:solidFill>
            <a:srgbClr val="0E6B5F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5600" y="445008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76160" y="4328160"/>
            <a:ext cx="39014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verschärft sich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7376160" y="4754880"/>
            <a:ext cx="39014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Ärztemangel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nimmt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defTabSz="1219170"/>
            <a:endParaRPr lang="en-US" sz="1600" dirty="0">
              <a:solidFill>
                <a:srgbClr val="2D2D2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defTabSz="1219170"/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Konsultationszeiten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werden kürzer, Administrationslast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steigt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[6, 12, 13]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0CEFF95A-A336-8465-E5D7-1C694F458E53}"/>
              </a:ext>
            </a:extLst>
          </p:cNvPr>
          <p:cNvSpPr/>
          <p:nvPr/>
        </p:nvSpPr>
        <p:spPr>
          <a:xfrm>
            <a:off x="11338560" y="6339840"/>
            <a:ext cx="60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70560"/>
          </a:xfrm>
          <a:prstGeom prst="rect">
            <a:avLst/>
          </a:prstGeom>
          <a:solidFill>
            <a:srgbClr val="0E6B5F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60960"/>
            <a:ext cx="609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Preseed – Innovative Solutions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720" y="85344"/>
            <a:ext cx="487680" cy="48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38560" y="6339840"/>
            <a:ext cx="60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731520" y="853440"/>
            <a:ext cx="10728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7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(1)</a:t>
            </a:r>
            <a:endParaRPr lang="en-US" sz="347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18308" y="164592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09600" y="1645920"/>
            <a:ext cx="4023360" cy="548640"/>
          </a:xfrm>
          <a:prstGeom prst="rect">
            <a:avLst/>
          </a:prstGeom>
          <a:solidFill>
            <a:srgbClr val="0E6B5F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53440" y="1645920"/>
            <a:ext cx="353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2640" y="2377440"/>
            <a:ext cx="670560" cy="6705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53440" y="3108960"/>
            <a:ext cx="35356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 Maier, 80 Jahre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9"/>
          <p:cNvSpPr/>
          <p:nvPr/>
        </p:nvSpPr>
        <p:spPr>
          <a:xfrm>
            <a:off x="853440" y="3596640"/>
            <a:ext cx="353568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Nutzt sein Smartphone kaum.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 Beschwerden, möchte aber keine langen Formulare am Bildschirm lesen oder ausfüllen.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4998720" y="1645920"/>
            <a:ext cx="65836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4998720" y="1645920"/>
            <a:ext cx="6583680" cy="548640"/>
          </a:xfrm>
          <a:prstGeom prst="rect">
            <a:avLst/>
          </a:prstGeom>
          <a:solidFill>
            <a:srgbClr val="1B9E8B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5242560" y="1645920"/>
            <a:ext cx="609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Journey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5364480" y="2438400"/>
            <a:ext cx="341376" cy="341376"/>
          </a:xfrm>
          <a:prstGeom prst="ellipse">
            <a:avLst/>
          </a:prstGeom>
          <a:solidFill>
            <a:srgbClr val="1B9E8B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5364480" y="2438400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5913120" y="2377440"/>
            <a:ext cx="5364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 wird in der PVE vereinbart</a:t>
            </a:r>
            <a:r>
              <a:rPr lang="en-US" sz="14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5364480" y="3048000"/>
            <a:ext cx="341376" cy="341376"/>
          </a:xfrm>
          <a:prstGeom prst="ellipse">
            <a:avLst/>
          </a:prstGeom>
          <a:solidFill>
            <a:srgbClr val="1B9E8B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5364480" y="3048000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5913120" y="2987040"/>
            <a:ext cx="5364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Anamnic ruft Herrn Maier am Telefon an.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5364480" y="3657600"/>
            <a:ext cx="341376" cy="341376"/>
          </a:xfrm>
          <a:prstGeom prst="ellipse">
            <a:avLst/>
          </a:prstGeom>
          <a:solidFill>
            <a:srgbClr val="1B9E8B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5364480" y="3657600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5913120" y="3596640"/>
            <a:ext cx="5364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KI fragt in verständlichem Tempo nach Beschwerden und Medikation.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5364480" y="4267200"/>
            <a:ext cx="341376" cy="341376"/>
          </a:xfrm>
          <a:prstGeom prst="ellipse">
            <a:avLst/>
          </a:prstGeom>
          <a:solidFill>
            <a:srgbClr val="1B9E8B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5364480" y="4267200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5913120" y="4206240"/>
            <a:ext cx="5364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Arzt startet mit einem strukturierten Vorab-Bild in den Termin</a:t>
            </a:r>
            <a:r>
              <a:rPr lang="en-US" sz="14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2">
            <a:extLst>
              <a:ext uri="{FF2B5EF4-FFF2-40B4-BE49-F238E27FC236}">
                <a16:creationId xmlns:a16="http://schemas.microsoft.com/office/drawing/2014/main" id="{9FC329CF-AC02-EDE2-97D0-7A1A2532A3F6}"/>
              </a:ext>
            </a:extLst>
          </p:cNvPr>
          <p:cNvSpPr/>
          <p:nvPr/>
        </p:nvSpPr>
        <p:spPr>
          <a:xfrm>
            <a:off x="609600" y="5303520"/>
            <a:ext cx="10972800" cy="944880"/>
          </a:xfrm>
          <a:prstGeom prst="rect">
            <a:avLst/>
          </a:prstGeom>
          <a:solidFill>
            <a:srgbClr val="E8F5F2"/>
          </a:solidFill>
          <a:ln/>
        </p:spPr>
        <p:txBody>
          <a:bodyPr/>
          <a:lstStyle/>
          <a:p>
            <a:pPr defTabSz="1219170"/>
            <a:r>
              <a:rPr lang="de-AT" sz="1600" b="1" dirty="0">
                <a:solidFill>
                  <a:srgbClr val="0E6B5F"/>
                </a:solidFill>
                <a:latin typeface="Calibri" panose="020F0502020204030204"/>
              </a:rPr>
              <a:t>Daraus folgt: </a:t>
            </a:r>
          </a:p>
          <a:p>
            <a:pPr defTabSz="1219170"/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Deutlich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verbesserte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Inklusion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ohne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technischen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Schulungsaufwand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für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Patient:innen</a:t>
            </a:r>
            <a:endParaRPr lang="en-US" sz="16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defTabSz="1219170"/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Barrierearmer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Zugang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im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Alter – Technik, die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sich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den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Nutzer:innen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anpasst</a:t>
            </a:r>
            <a:endParaRPr lang="de-AT" sz="1600" dirty="0"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70560"/>
          </a:xfrm>
          <a:prstGeom prst="rect">
            <a:avLst/>
          </a:prstGeom>
          <a:solidFill>
            <a:srgbClr val="0E6B5F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60960"/>
            <a:ext cx="609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Preseed – Innovative Solutions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720" y="85344"/>
            <a:ext cx="487680" cy="48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38560" y="6339840"/>
            <a:ext cx="60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731520" y="853440"/>
            <a:ext cx="10728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7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(2)</a:t>
            </a:r>
            <a:endParaRPr lang="en-US" sz="347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09600" y="164592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09600" y="1645920"/>
            <a:ext cx="4023360" cy="548640"/>
          </a:xfrm>
          <a:prstGeom prst="rect">
            <a:avLst/>
          </a:prstGeom>
          <a:solidFill>
            <a:srgbClr val="0E6B5F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53440" y="1645920"/>
            <a:ext cx="353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2640" y="2377440"/>
            <a:ext cx="670560" cy="6705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" y="3063240"/>
            <a:ext cx="35356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Amina, 35 Jahre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9"/>
          <p:cNvSpPr/>
          <p:nvPr/>
        </p:nvSpPr>
        <p:spPr>
          <a:xfrm>
            <a:off x="853440" y="3596640"/>
            <a:ext cx="353568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Fühlt sich krank, verunsichert und emotional belastet.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Deutsch ist nicht ihre Muttersprache; medizinische Formulare unter Stress überfordern sie.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4998720" y="1645920"/>
            <a:ext cx="65836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4998720" y="1645920"/>
            <a:ext cx="6583680" cy="548640"/>
          </a:xfrm>
          <a:prstGeom prst="rect">
            <a:avLst/>
          </a:prstGeom>
          <a:solidFill>
            <a:srgbClr val="1B9E8B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5242560" y="1645920"/>
            <a:ext cx="609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Journey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5364480" y="2438400"/>
            <a:ext cx="341376" cy="341376"/>
          </a:xfrm>
          <a:prstGeom prst="ellipse">
            <a:avLst/>
          </a:prstGeom>
          <a:solidFill>
            <a:srgbClr val="1B9E8B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5364480" y="2438400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5913120" y="2377440"/>
            <a:ext cx="5364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Gespräch statt Formular: Anamnic führt ruhig durch die Fragen.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5364480" y="3048000"/>
            <a:ext cx="341376" cy="341376"/>
          </a:xfrm>
          <a:prstGeom prst="ellipse">
            <a:avLst/>
          </a:prstGeom>
          <a:solidFill>
            <a:srgbClr val="1B9E8B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5364480" y="3048000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5913120" y="2987040"/>
            <a:ext cx="5364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Verständliche Rückfragen sichern die Qualität der Angaben ab</a:t>
            </a:r>
            <a:r>
              <a:rPr lang="en-US" sz="14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5364480" y="3657600"/>
            <a:ext cx="341376" cy="341376"/>
          </a:xfrm>
          <a:prstGeom prst="ellipse">
            <a:avLst/>
          </a:prstGeom>
          <a:solidFill>
            <a:srgbClr val="1B9E8B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5364480" y="3657600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5913120" y="3596640"/>
            <a:ext cx="5364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mehrsprachige Gesprächsführung baut Hürden ab.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5364480" y="4267200"/>
            <a:ext cx="341376" cy="341376"/>
          </a:xfrm>
          <a:prstGeom prst="ellipse">
            <a:avLst/>
          </a:prstGeom>
          <a:solidFill>
            <a:srgbClr val="1B9E8B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5364480" y="4267200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5913120" y="4206240"/>
            <a:ext cx="5364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Arzt erhält einen strukturierten, sprachlich vereinheitlichten Bericht.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2">
            <a:extLst>
              <a:ext uri="{FF2B5EF4-FFF2-40B4-BE49-F238E27FC236}">
                <a16:creationId xmlns:a16="http://schemas.microsoft.com/office/drawing/2014/main" id="{F1981314-9CC8-4C20-515F-C2FD5A3EFD87}"/>
              </a:ext>
            </a:extLst>
          </p:cNvPr>
          <p:cNvSpPr/>
          <p:nvPr/>
        </p:nvSpPr>
        <p:spPr>
          <a:xfrm>
            <a:off x="609600" y="5303520"/>
            <a:ext cx="10972800" cy="944880"/>
          </a:xfrm>
          <a:prstGeom prst="rect">
            <a:avLst/>
          </a:prstGeom>
          <a:solidFill>
            <a:srgbClr val="E8F5F2"/>
          </a:solidFill>
          <a:ln/>
        </p:spPr>
        <p:txBody>
          <a:bodyPr/>
          <a:lstStyle/>
          <a:p>
            <a:pPr defTabSz="1219170"/>
            <a:r>
              <a:rPr lang="de-AT" sz="1600" b="1" dirty="0">
                <a:solidFill>
                  <a:srgbClr val="0E6B5F"/>
                </a:solidFill>
                <a:latin typeface="Calibri" panose="020F0502020204030204"/>
              </a:rPr>
              <a:t>Daraus folgt: </a:t>
            </a:r>
          </a:p>
          <a:p>
            <a:pPr defTabSz="1219170"/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Ein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sprachbasierter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Zugang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ist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in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Belastungssituationen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deutlich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geeigneter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als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ein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Schriftstück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Sicherheit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bei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sprachlichen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und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emotionalen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Hürden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70560"/>
          </a:xfrm>
          <a:prstGeom prst="rect">
            <a:avLst/>
          </a:prstGeom>
          <a:solidFill>
            <a:srgbClr val="0E6B5F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60960"/>
            <a:ext cx="609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Preseed – Innovative Solutions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720" y="85344"/>
            <a:ext cx="487680" cy="48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38560" y="6339840"/>
            <a:ext cx="60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731520" y="853440"/>
            <a:ext cx="10728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7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 / Alleinstellungsmerkmal</a:t>
            </a:r>
            <a:endParaRPr lang="en-US" sz="347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09600" y="1615440"/>
            <a:ext cx="5242560" cy="3779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463040" y="2164080"/>
            <a:ext cx="1950720" cy="1219200"/>
          </a:xfrm>
          <a:prstGeom prst="rect">
            <a:avLst/>
          </a:prstGeom>
          <a:solidFill>
            <a:srgbClr val="E8F5F2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535680" y="2164080"/>
            <a:ext cx="1950720" cy="1219200"/>
          </a:xfrm>
          <a:prstGeom prst="rect">
            <a:avLst/>
          </a:prstGeom>
          <a:solidFill>
            <a:srgbClr val="D4F5EC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463040" y="3505200"/>
            <a:ext cx="1950720" cy="12192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pPr defTabSz="1219170"/>
            <a:endParaRPr lang="de-A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535680" y="3505200"/>
            <a:ext cx="1950720" cy="1219200"/>
          </a:xfrm>
          <a:prstGeom prst="rect">
            <a:avLst/>
          </a:prstGeom>
          <a:solidFill>
            <a:srgbClr val="E8F5F2"/>
          </a:solidFill>
          <a:ln/>
        </p:spPr>
        <p:txBody>
          <a:bodyPr/>
          <a:lstStyle/>
          <a:p>
            <a:pPr defTabSz="1219170"/>
            <a:endParaRPr lang="de-AT" sz="2400" dirty="0">
              <a:solidFill>
                <a:srgbClr val="E8F5F2"/>
              </a:solidFill>
              <a:highlight>
                <a:srgbClr val="FFFF00"/>
              </a:highlight>
              <a:latin typeface="Calibri" panose="020F0502020204030204"/>
            </a:endParaRPr>
          </a:p>
        </p:txBody>
      </p:sp>
      <p:sp>
        <p:nvSpPr>
          <p:cNvPr id="13" name="Text 10"/>
          <p:cNvSpPr/>
          <p:nvPr/>
        </p:nvSpPr>
        <p:spPr>
          <a:xfrm rot="16200000">
            <a:off x="426720" y="2103120"/>
            <a:ext cx="121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00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 dem Termin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1"/>
          <p:cNvSpPr/>
          <p:nvPr/>
        </p:nvSpPr>
        <p:spPr>
          <a:xfrm rot="16200000">
            <a:off x="487680" y="3566160"/>
            <a:ext cx="121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100" b="1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Während</a:t>
            </a: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/Nach dem Termin</a:t>
            </a:r>
            <a:endParaRPr lang="en-US" sz="11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463040" y="4785360"/>
            <a:ext cx="1950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Schrift / Formular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535680" y="4785360"/>
            <a:ext cx="1950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100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Sprachbasiert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828800" y="2429256"/>
            <a:ext cx="1219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Idana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Nelly</a:t>
            </a:r>
          </a:p>
          <a:p>
            <a:pPr algn="ctr" defTabSz="1219170"/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CGM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584960" y="3017520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3657600" y="3688080"/>
            <a:ext cx="170688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Tandem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3840480" y="2286000"/>
            <a:ext cx="1463040" cy="914400"/>
          </a:xfrm>
          <a:prstGeom prst="ellipse">
            <a:avLst/>
          </a:prstGeom>
          <a:solidFill>
            <a:srgbClr val="1B9E8B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3840480" y="22860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 b="1" dirty="0">
                <a:solidFill>
                  <a:srgbClr val="F09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ANAMNIC</a:t>
            </a:r>
            <a:endParaRPr lang="en-US" sz="1333" dirty="0">
              <a:solidFill>
                <a:srgbClr val="F09819"/>
              </a:solidFill>
              <a:latin typeface="Calibri" panose="020F0502020204030204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339840" y="1615440"/>
            <a:ext cx="5242560" cy="12374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2720" y="1956816"/>
            <a:ext cx="487680" cy="4876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193280" y="1837943"/>
            <a:ext cx="41452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Telefonkanal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Umgeht Hardware- und App-Pflichten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1"/>
          <p:cNvSpPr/>
          <p:nvPr/>
        </p:nvSpPr>
        <p:spPr>
          <a:xfrm>
            <a:off x="6339840" y="2938272"/>
            <a:ext cx="524256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2720" y="3204972"/>
            <a:ext cx="487680" cy="4876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193280" y="3083052"/>
            <a:ext cx="41452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Barrierearm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Sprache statt Schrift fördert Inklusion.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3"/>
          <p:cNvSpPr/>
          <p:nvPr/>
        </p:nvSpPr>
        <p:spPr>
          <a:xfrm>
            <a:off x="6339840" y="4242816"/>
            <a:ext cx="5242560" cy="116738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2720" y="4602480"/>
            <a:ext cx="487680" cy="48768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193280" y="4419600"/>
            <a:ext cx="41452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 err="1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Vorbereitend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Praxisnutzen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entsteht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dem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Gespräch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nicht erst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Mitschrift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währenddessen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609600" y="5547360"/>
            <a:ext cx="10972800" cy="1036320"/>
          </a:xfrm>
          <a:prstGeom prst="rect">
            <a:avLst/>
          </a:prstGeom>
          <a:solidFill>
            <a:srgbClr val="E8F5F2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26"/>
          <p:cNvSpPr/>
          <p:nvPr/>
        </p:nvSpPr>
        <p:spPr>
          <a:xfrm>
            <a:off x="853440" y="5547360"/>
            <a:ext cx="9952074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Schutzrechtsstrategie: </a:t>
            </a:r>
          </a:p>
          <a:p>
            <a:pPr defTabSz="1219170"/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Schutz aktuell primär über First-Mover-Vorsprung, proprietäres Prozess-Know-how und Integrationskompetenz. </a:t>
            </a:r>
          </a:p>
          <a:p>
            <a:pPr defTabSz="1219170"/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Spätere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Prüfung formaler Schutzrechte bleibt eine Option.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FEFCE022-945C-A619-245F-41389503253E}"/>
              </a:ext>
            </a:extLst>
          </p:cNvPr>
          <p:cNvSpPr/>
          <p:nvPr/>
        </p:nvSpPr>
        <p:spPr>
          <a:xfrm>
            <a:off x="1828800" y="3709416"/>
            <a:ext cx="1219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Herkömmliche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Anamnese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9BBCE3-E576-1CF6-A4C7-B1A923A44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C433466-394F-F942-7D10-4F4012A257E4}"/>
              </a:ext>
            </a:extLst>
          </p:cNvPr>
          <p:cNvSpPr/>
          <p:nvPr/>
        </p:nvSpPr>
        <p:spPr>
          <a:xfrm>
            <a:off x="0" y="0"/>
            <a:ext cx="12192000" cy="670560"/>
          </a:xfrm>
          <a:prstGeom prst="rect">
            <a:avLst/>
          </a:prstGeom>
          <a:solidFill>
            <a:srgbClr val="0E6B5F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0C7118B-7619-92BB-7CEB-C735AB25079A}"/>
              </a:ext>
            </a:extLst>
          </p:cNvPr>
          <p:cNvSpPr/>
          <p:nvPr/>
        </p:nvSpPr>
        <p:spPr>
          <a:xfrm>
            <a:off x="609600" y="60960"/>
            <a:ext cx="609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Preseed – Innovative Solutions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CC7AF683-69A3-8485-CCE0-3A612C4A2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720" y="85344"/>
            <a:ext cx="487680" cy="48768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098AB781-108D-9563-E805-A802D41A7870}"/>
              </a:ext>
            </a:extLst>
          </p:cNvPr>
          <p:cNvSpPr/>
          <p:nvPr/>
        </p:nvSpPr>
        <p:spPr>
          <a:xfrm>
            <a:off x="11338560" y="6348984"/>
            <a:ext cx="60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1496A54-3AA9-01DB-5AA7-52EC13DD9809}"/>
              </a:ext>
            </a:extLst>
          </p:cNvPr>
          <p:cNvSpPr/>
          <p:nvPr/>
        </p:nvSpPr>
        <p:spPr>
          <a:xfrm>
            <a:off x="731520" y="853440"/>
            <a:ext cx="10728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7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/ </a:t>
            </a:r>
            <a:r>
              <a:rPr lang="en-US" sz="3470" b="1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gesellschaftlicher</a:t>
            </a:r>
            <a:r>
              <a:rPr lang="en-US" sz="347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470" b="1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Mehrwert</a:t>
            </a:r>
            <a:r>
              <a:rPr lang="en-US" sz="347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(1: </a:t>
            </a:r>
            <a:r>
              <a:rPr lang="en-US" sz="3470" b="1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Tiefe</a:t>
            </a:r>
            <a:r>
              <a:rPr lang="en-US" sz="347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347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19EC334D-79B3-17C7-94E1-77355C2B13A3}"/>
              </a:ext>
            </a:extLst>
          </p:cNvPr>
          <p:cNvSpPr/>
          <p:nvPr/>
        </p:nvSpPr>
        <p:spPr>
          <a:xfrm>
            <a:off x="609600" y="1706880"/>
            <a:ext cx="3291840" cy="1584960"/>
          </a:xfrm>
          <a:prstGeom prst="rect">
            <a:avLst/>
          </a:prstGeom>
          <a:solidFill>
            <a:srgbClr val="1B9E8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CB07E9F4-B9BD-74C1-53FF-439E53AAC1DF}"/>
              </a:ext>
            </a:extLst>
          </p:cNvPr>
          <p:cNvSpPr/>
          <p:nvPr/>
        </p:nvSpPr>
        <p:spPr>
          <a:xfrm>
            <a:off x="853440" y="1828800"/>
            <a:ext cx="28041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F09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82,5% </a:t>
            </a:r>
            <a:endParaRPr lang="en-US" sz="4000" dirty="0">
              <a:solidFill>
                <a:srgbClr val="F09819"/>
              </a:solidFill>
              <a:latin typeface="Calibri" panose="020F0502020204030204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5CA94F93-1414-125C-ACFF-BC74C76616EB}"/>
              </a:ext>
            </a:extLst>
          </p:cNvPr>
          <p:cNvSpPr/>
          <p:nvPr/>
        </p:nvSpPr>
        <p:spPr>
          <a:xfrm>
            <a:off x="853440" y="2438400"/>
            <a:ext cx="280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ärztlichen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Diagnosen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basieren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maßgeblich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auf der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Anamnese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800" dirty="0">
                <a:solidFill>
                  <a:srgbClr val="7F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40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06BC54C4-B13B-3948-750E-3358A586743D}"/>
              </a:ext>
            </a:extLst>
          </p:cNvPr>
          <p:cNvSpPr/>
          <p:nvPr/>
        </p:nvSpPr>
        <p:spPr>
          <a:xfrm>
            <a:off x="4340352" y="1706880"/>
            <a:ext cx="3291840" cy="1584960"/>
          </a:xfrm>
          <a:prstGeom prst="rect">
            <a:avLst/>
          </a:prstGeom>
          <a:solidFill>
            <a:srgbClr val="1B9E8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08D91FCF-69CF-1C05-0BA3-3E4FD387DE58}"/>
              </a:ext>
            </a:extLst>
          </p:cNvPr>
          <p:cNvSpPr/>
          <p:nvPr/>
        </p:nvSpPr>
        <p:spPr>
          <a:xfrm>
            <a:off x="4553712" y="1828800"/>
            <a:ext cx="2865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F09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</a:t>
            </a:r>
            <a:r>
              <a:rPr lang="en-US" sz="4000" b="1" dirty="0" err="1">
                <a:solidFill>
                  <a:srgbClr val="F09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</a:t>
            </a:r>
            <a:r>
              <a:rPr lang="en-US" sz="4000" b="1" dirty="0">
                <a:solidFill>
                  <a:srgbClr val="F09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40%</a:t>
            </a:r>
            <a:endParaRPr lang="en-US" sz="4000" dirty="0">
              <a:solidFill>
                <a:srgbClr val="F09819"/>
              </a:solidFill>
              <a:latin typeface="Calibri" panose="020F0502020204030204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E260B23E-48E6-58E7-C1BC-8829A0A32703}"/>
              </a:ext>
            </a:extLst>
          </p:cNvPr>
          <p:cNvSpPr/>
          <p:nvPr/>
        </p:nvSpPr>
        <p:spPr>
          <a:xfrm>
            <a:off x="4511040" y="2438400"/>
            <a:ext cx="280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potenzielle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Zeitersparnis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der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Dokumentationsarbeit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800" dirty="0">
                <a:solidFill>
                  <a:srgbClr val="7F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400" dirty="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A6C389AC-0678-CD5C-14C4-731F710491FF}"/>
              </a:ext>
            </a:extLst>
          </p:cNvPr>
          <p:cNvSpPr/>
          <p:nvPr/>
        </p:nvSpPr>
        <p:spPr>
          <a:xfrm>
            <a:off x="8071104" y="1706880"/>
            <a:ext cx="3291840" cy="1584960"/>
          </a:xfrm>
          <a:prstGeom prst="rect">
            <a:avLst/>
          </a:prstGeom>
          <a:solidFill>
            <a:srgbClr val="1B9E8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CE042322-6D32-09BF-24E3-4CD450DD4799}"/>
              </a:ext>
            </a:extLst>
          </p:cNvPr>
          <p:cNvSpPr/>
          <p:nvPr/>
        </p:nvSpPr>
        <p:spPr>
          <a:xfrm>
            <a:off x="8430768" y="1828800"/>
            <a:ext cx="29077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F09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52.000+</a:t>
            </a:r>
            <a:endParaRPr lang="en-US" sz="4000" dirty="0">
              <a:solidFill>
                <a:srgbClr val="F09819"/>
              </a:solidFill>
              <a:latin typeface="Calibri" panose="020F0502020204030204"/>
            </a:endParaRPr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69779292-F3B1-20E6-817C-C7BEC2EE94A8}"/>
              </a:ext>
            </a:extLst>
          </p:cNvPr>
          <p:cNvSpPr/>
          <p:nvPr/>
        </p:nvSpPr>
        <p:spPr>
          <a:xfrm>
            <a:off x="8168640" y="2438400"/>
            <a:ext cx="280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Berufsärzt:innen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Österreich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potenzielle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Nutznießer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800" dirty="0">
                <a:solidFill>
                  <a:srgbClr val="7F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400" dirty="0"/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653A4D21-7A86-7908-109C-8E943BB0D9DD}"/>
              </a:ext>
            </a:extLst>
          </p:cNvPr>
          <p:cNvSpPr/>
          <p:nvPr/>
        </p:nvSpPr>
        <p:spPr>
          <a:xfrm>
            <a:off x="609600" y="3535680"/>
            <a:ext cx="10911840" cy="2804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AF497316-85AD-83EB-8FD5-0BEAD23C6C2E}"/>
              </a:ext>
            </a:extLst>
          </p:cNvPr>
          <p:cNvSpPr/>
          <p:nvPr/>
        </p:nvSpPr>
        <p:spPr>
          <a:xfrm>
            <a:off x="609600" y="3535680"/>
            <a:ext cx="121920" cy="2804160"/>
          </a:xfrm>
          <a:prstGeom prst="rect">
            <a:avLst/>
          </a:prstGeom>
          <a:solidFill>
            <a:srgbClr val="1B9E8B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9C78D57E-5351-E7B5-E414-2D79ED39A56A}"/>
              </a:ext>
            </a:extLst>
          </p:cNvPr>
          <p:cNvSpPr/>
          <p:nvPr/>
        </p:nvSpPr>
        <p:spPr>
          <a:xfrm>
            <a:off x="914400" y="3927348"/>
            <a:ext cx="10424160" cy="2630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</a:t>
            </a:r>
            <a:r>
              <a:rPr lang="en-US" sz="1467" b="1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Wirkung</a:t>
            </a:r>
            <a:r>
              <a:rPr lang="en-US" sz="1467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67" b="1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</a:t>
            </a:r>
            <a:r>
              <a:rPr lang="en-US" sz="1467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System</a:t>
            </a:r>
          </a:p>
          <a:p>
            <a:pPr defTabSz="1219170"/>
            <a:endParaRPr lang="en-US" sz="1600" dirty="0">
              <a:latin typeface="Calibri" panose="020F0502020204030204"/>
            </a:endParaRPr>
          </a:p>
          <a:p>
            <a:pPr marL="285750" indent="-285750" defTabSz="121917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Strukturierterer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Gesprächsbeginn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und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weniger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redundante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Abfragen</a:t>
            </a:r>
            <a:endParaRPr lang="en-US" sz="16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 defTabSz="121917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Bessere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Fokussierung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auf die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medizinisch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relevanten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Details</a:t>
            </a:r>
          </a:p>
          <a:p>
            <a:pPr marL="285750" indent="-285750" defTabSz="121917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Reduktion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der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administrativen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Überlastung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in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Ordinationen</a:t>
            </a:r>
            <a:endParaRPr lang="en-US" sz="16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 defTabSz="121917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Bessere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Anamnese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fundiertere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Diagnose →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effizientere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Versorgung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breiterer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Zugang</a:t>
            </a:r>
            <a:endParaRPr lang="en-US" sz="1600" dirty="0"/>
          </a:p>
          <a:p>
            <a:pPr defTabSz="1219170"/>
            <a:endParaRPr lang="en-US" sz="1600" dirty="0"/>
          </a:p>
          <a:p>
            <a:pPr defTabSz="1219170"/>
            <a:endParaRPr lang="en-US" sz="1600" dirty="0">
              <a:solidFill>
                <a:srgbClr val="2D2D2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defTabSz="1219170"/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170044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868253-5D1D-61A1-FC05-3533C1837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628175B-6611-66B2-3CC0-F80E86732615}"/>
              </a:ext>
            </a:extLst>
          </p:cNvPr>
          <p:cNvSpPr/>
          <p:nvPr/>
        </p:nvSpPr>
        <p:spPr>
          <a:xfrm>
            <a:off x="0" y="0"/>
            <a:ext cx="12192000" cy="670560"/>
          </a:xfrm>
          <a:prstGeom prst="rect">
            <a:avLst/>
          </a:prstGeom>
          <a:solidFill>
            <a:srgbClr val="0E6B5F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BD0590D-7B26-E0C5-772A-6307428BAA1F}"/>
              </a:ext>
            </a:extLst>
          </p:cNvPr>
          <p:cNvSpPr/>
          <p:nvPr/>
        </p:nvSpPr>
        <p:spPr>
          <a:xfrm>
            <a:off x="609600" y="60960"/>
            <a:ext cx="609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Preseed – Innovative Solutions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B49BB322-F3C7-F745-2EE9-EE95C5B9A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720" y="85344"/>
            <a:ext cx="487680" cy="48768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C316682F-3514-F02E-141D-586C9F4645A8}"/>
              </a:ext>
            </a:extLst>
          </p:cNvPr>
          <p:cNvSpPr/>
          <p:nvPr/>
        </p:nvSpPr>
        <p:spPr>
          <a:xfrm>
            <a:off x="11338560" y="6339840"/>
            <a:ext cx="60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A5D6410-3C9A-B1F1-891D-3E22290E408D}"/>
              </a:ext>
            </a:extLst>
          </p:cNvPr>
          <p:cNvSpPr/>
          <p:nvPr/>
        </p:nvSpPr>
        <p:spPr>
          <a:xfrm>
            <a:off x="731520" y="853440"/>
            <a:ext cx="10728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/ </a:t>
            </a:r>
            <a:r>
              <a:rPr lang="en-US" sz="3467" b="1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gesellschaftlicher</a:t>
            </a:r>
            <a:r>
              <a:rPr lang="en-US" sz="3467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467" b="1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Mehrwert</a:t>
            </a:r>
            <a:r>
              <a:rPr lang="en-US" sz="3467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(2: </a:t>
            </a:r>
            <a:r>
              <a:rPr lang="en-US" sz="3467" b="1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Reichweite</a:t>
            </a:r>
            <a:r>
              <a:rPr lang="en-US" sz="3467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460F43C3-F1FB-07BC-3F3F-4F4B572F5BFE}"/>
              </a:ext>
            </a:extLst>
          </p:cNvPr>
          <p:cNvSpPr/>
          <p:nvPr/>
        </p:nvSpPr>
        <p:spPr>
          <a:xfrm>
            <a:off x="609600" y="1645920"/>
            <a:ext cx="5242560" cy="3169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84E46470-C472-96C5-32E8-4F6D1679152F}"/>
              </a:ext>
            </a:extLst>
          </p:cNvPr>
          <p:cNvSpPr/>
          <p:nvPr/>
        </p:nvSpPr>
        <p:spPr>
          <a:xfrm>
            <a:off x="609600" y="1645920"/>
            <a:ext cx="5242560" cy="548640"/>
          </a:xfrm>
          <a:prstGeom prst="rect">
            <a:avLst/>
          </a:prstGeom>
          <a:solidFill>
            <a:srgbClr val="0E6B5F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7B528C2-D14E-5473-3099-7C35F0897DB2}"/>
              </a:ext>
            </a:extLst>
          </p:cNvPr>
          <p:cNvSpPr/>
          <p:nvPr/>
        </p:nvSpPr>
        <p:spPr>
          <a:xfrm>
            <a:off x="853440" y="16459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Bisher oft benachteiligt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90F4281-2C86-0B2A-5FFF-38EAC1E5AC9E}"/>
              </a:ext>
            </a:extLst>
          </p:cNvPr>
          <p:cNvSpPr/>
          <p:nvPr/>
        </p:nvSpPr>
        <p:spPr>
          <a:xfrm>
            <a:off x="853440" y="2316480"/>
            <a:ext cx="4754880" cy="231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 defTabSz="1219170">
              <a:spcAft>
                <a:spcPts val="1067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Ältere Menschen ohne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regelmäßige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Smartphone-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Nutzung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1067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Menschen mit Lese-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oder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Schreibschwierigkeiten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1067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Personen mit Seh- oder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motorischen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Einschränkungen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1067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Patient:innen in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emotionalen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Ausnahmesituationen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CB481A89-EF52-D428-CFCC-DADD77706F95}"/>
              </a:ext>
            </a:extLst>
          </p:cNvPr>
          <p:cNvSpPr/>
          <p:nvPr/>
        </p:nvSpPr>
        <p:spPr>
          <a:xfrm>
            <a:off x="6339840" y="1645920"/>
            <a:ext cx="5242560" cy="3169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30F0D284-F939-639E-C552-633DF81144F5}"/>
              </a:ext>
            </a:extLst>
          </p:cNvPr>
          <p:cNvSpPr/>
          <p:nvPr/>
        </p:nvSpPr>
        <p:spPr>
          <a:xfrm>
            <a:off x="6339840" y="1645920"/>
            <a:ext cx="5242560" cy="548640"/>
          </a:xfrm>
          <a:prstGeom prst="rect">
            <a:avLst/>
          </a:prstGeom>
          <a:solidFill>
            <a:srgbClr val="0E6B5F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42549924-9469-80CD-8B75-39801BCA4D9A}"/>
              </a:ext>
            </a:extLst>
          </p:cNvPr>
          <p:cNvSpPr/>
          <p:nvPr/>
        </p:nvSpPr>
        <p:spPr>
          <a:xfrm>
            <a:off x="6583680" y="16459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Erweiterter Zugang durch Anamnic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EB0E2B22-523B-3B70-2B16-C9ACF5112E51}"/>
              </a:ext>
            </a:extLst>
          </p:cNvPr>
          <p:cNvSpPr/>
          <p:nvPr/>
        </p:nvSpPr>
        <p:spPr>
          <a:xfrm>
            <a:off x="6583680" y="2377440"/>
            <a:ext cx="475488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Sehr breites Zugangspotenzial über den universellen Telefonkanal – insbesondere für ältere Menschen, sprachlich benachteiligte Gruppen und Personen mit eingeschränkter digitaler Routine.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CB5D35C9-F448-CC18-1F13-81688A156F2F}"/>
              </a:ext>
            </a:extLst>
          </p:cNvPr>
          <p:cNvSpPr/>
          <p:nvPr/>
        </p:nvSpPr>
        <p:spPr>
          <a:xfrm>
            <a:off x="6583680" y="3718560"/>
            <a:ext cx="4754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Sprache senkt die Hürde in Belastungssituationen signifikant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5">
            <a:extLst>
              <a:ext uri="{FF2B5EF4-FFF2-40B4-BE49-F238E27FC236}">
                <a16:creationId xmlns:a16="http://schemas.microsoft.com/office/drawing/2014/main" id="{1B3848D0-048C-9C8E-D792-2958846898E9}"/>
              </a:ext>
            </a:extLst>
          </p:cNvPr>
          <p:cNvSpPr/>
          <p:nvPr/>
        </p:nvSpPr>
        <p:spPr>
          <a:xfrm>
            <a:off x="609600" y="5428488"/>
            <a:ext cx="10972800" cy="1036320"/>
          </a:xfrm>
          <a:prstGeom prst="rect">
            <a:avLst/>
          </a:prstGeom>
          <a:solidFill>
            <a:srgbClr val="E8F5F2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6">
            <a:extLst>
              <a:ext uri="{FF2B5EF4-FFF2-40B4-BE49-F238E27FC236}">
                <a16:creationId xmlns:a16="http://schemas.microsoft.com/office/drawing/2014/main" id="{A28EEC1E-2F6C-9CA4-75C2-AC98518E092E}"/>
              </a:ext>
            </a:extLst>
          </p:cNvPr>
          <p:cNvSpPr/>
          <p:nvPr/>
        </p:nvSpPr>
        <p:spPr>
          <a:xfrm>
            <a:off x="853440" y="5547360"/>
            <a:ext cx="9952074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 err="1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Daraus</a:t>
            </a:r>
            <a:r>
              <a:rPr lang="en-US" sz="1600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ergeben</a:t>
            </a:r>
            <a:r>
              <a:rPr lang="en-US" sz="1600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</a:t>
            </a:r>
            <a:r>
              <a:rPr lang="en-US" sz="1600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die </a:t>
            </a:r>
            <a:r>
              <a:rPr lang="en-US" sz="1600" b="1" dirty="0" err="1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Themenfelder</a:t>
            </a:r>
            <a:r>
              <a:rPr lang="en-US" sz="1600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defTabSz="1219170"/>
            <a:r>
              <a:rPr lang="en-US" sz="1600" b="1" dirty="0" err="1">
                <a:solidFill>
                  <a:srgbClr val="F09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Diversität</a:t>
            </a:r>
            <a:r>
              <a:rPr lang="en-US" sz="1600" b="1" dirty="0">
                <a:solidFill>
                  <a:srgbClr val="F09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en-US" sz="1600" b="1" dirty="0" err="1">
                <a:solidFill>
                  <a:srgbClr val="F09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Gleichstellung</a:t>
            </a:r>
            <a:r>
              <a:rPr lang="en-US" sz="1600" b="1" dirty="0">
                <a:solidFill>
                  <a:srgbClr val="F09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Integration | </a:t>
            </a:r>
            <a:r>
              <a:rPr lang="en-US" sz="1600" b="1" dirty="0" err="1">
                <a:solidFill>
                  <a:srgbClr val="F09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Inklusion</a:t>
            </a:r>
            <a:r>
              <a:rPr lang="en-US" sz="1600" b="1" dirty="0">
                <a:solidFill>
                  <a:srgbClr val="F09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beziehungsweise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F09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Gesundheit | </a:t>
            </a:r>
            <a:r>
              <a:rPr lang="en-US" sz="1600" b="1" dirty="0" err="1">
                <a:solidFill>
                  <a:srgbClr val="F09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Pflege</a:t>
            </a:r>
            <a:r>
              <a:rPr lang="en-US" sz="1600" b="1" dirty="0">
                <a:solidFill>
                  <a:srgbClr val="F09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defTabSz="1219170"/>
            <a:endParaRPr lang="en-US" sz="1600" b="1" dirty="0">
              <a:solidFill>
                <a:srgbClr val="0E6B5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32078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EDC447-86D0-27F3-63D9-D32017353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7F039E6-AD74-9246-26E7-B17C875BDF77}"/>
              </a:ext>
            </a:extLst>
          </p:cNvPr>
          <p:cNvSpPr/>
          <p:nvPr/>
        </p:nvSpPr>
        <p:spPr>
          <a:xfrm>
            <a:off x="0" y="0"/>
            <a:ext cx="12192000" cy="670560"/>
          </a:xfrm>
          <a:prstGeom prst="rect">
            <a:avLst/>
          </a:prstGeom>
          <a:solidFill>
            <a:srgbClr val="0E6B5F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6C852F2-8113-6612-8CBD-E44220D73D3E}"/>
              </a:ext>
            </a:extLst>
          </p:cNvPr>
          <p:cNvSpPr/>
          <p:nvPr/>
        </p:nvSpPr>
        <p:spPr>
          <a:xfrm>
            <a:off x="609600" y="60960"/>
            <a:ext cx="609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Preseed – Innovative Solutions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8FCF6B0E-42CB-6D80-391A-548991591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720" y="85344"/>
            <a:ext cx="487680" cy="48768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A078D4C6-60FE-FC0E-ED0D-88AD80BD8AF0}"/>
              </a:ext>
            </a:extLst>
          </p:cNvPr>
          <p:cNvSpPr/>
          <p:nvPr/>
        </p:nvSpPr>
        <p:spPr>
          <a:xfrm>
            <a:off x="11338560" y="6339840"/>
            <a:ext cx="60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6043A80-9EEA-4530-7E6E-995A94D5C8D9}"/>
              </a:ext>
            </a:extLst>
          </p:cNvPr>
          <p:cNvSpPr/>
          <p:nvPr/>
        </p:nvSpPr>
        <p:spPr>
          <a:xfrm>
            <a:off x="731520" y="853440"/>
            <a:ext cx="10728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Wirkungstreppe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84AEEC8-EE25-7040-E79F-6DB42C92E18E}"/>
              </a:ext>
            </a:extLst>
          </p:cNvPr>
          <p:cNvSpPr/>
          <p:nvPr/>
        </p:nvSpPr>
        <p:spPr>
          <a:xfrm>
            <a:off x="900000" y="5580000"/>
            <a:ext cx="9600000" cy="520000"/>
          </a:xfrm>
          <a:prstGeom prst="roundRect">
            <a:avLst>
              <a:gd name="adj" fmla="val 5000"/>
            </a:avLst>
          </a:prstGeom>
          <a:solidFill>
            <a:srgbClr val="C5E8E3"/>
          </a:solidFill>
          <a:ln/>
        </p:spPr>
        <p:txBody>
          <a:bodyPr/>
          <a:lstStyle/>
          <a:p>
            <a:endParaRPr lang="de-AT" sz="280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D18145A4-6D83-DC71-7FAC-5637EB09372A}"/>
              </a:ext>
            </a:extLst>
          </p:cNvPr>
          <p:cNvSpPr/>
          <p:nvPr/>
        </p:nvSpPr>
        <p:spPr>
          <a:xfrm>
            <a:off x="950000" y="5580000"/>
            <a:ext cx="35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9DE1C0C9-D678-CEFE-3804-4ED3BC0CE246}"/>
              </a:ext>
            </a:extLst>
          </p:cNvPr>
          <p:cNvSpPr/>
          <p:nvPr/>
        </p:nvSpPr>
        <p:spPr>
          <a:xfrm>
            <a:off x="1300000" y="5664184"/>
            <a:ext cx="91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Aktivitäten </a:t>
            </a:r>
            <a:r>
              <a:rPr lang="en-US" sz="1400" b="1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finden</a:t>
            </a: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statt</a:t>
            </a: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</a:t>
            </a:r>
            <a:r>
              <a:rPr lang="en-US" sz="14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entwickelt</a:t>
            </a: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Pilotbetrieb</a:t>
            </a: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gestartet</a:t>
            </a:r>
            <a:endParaRPr lang="en-US" sz="14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1D66FEA1-5DE8-02CB-288A-B968A3B207B2}"/>
              </a:ext>
            </a:extLst>
          </p:cNvPr>
          <p:cNvSpPr/>
          <p:nvPr/>
        </p:nvSpPr>
        <p:spPr>
          <a:xfrm>
            <a:off x="900000" y="5000000"/>
            <a:ext cx="9200000" cy="520000"/>
          </a:xfrm>
          <a:prstGeom prst="roundRect">
            <a:avLst>
              <a:gd name="adj" fmla="val 5000"/>
            </a:avLst>
          </a:prstGeom>
          <a:solidFill>
            <a:srgbClr val="93D4C9"/>
          </a:solidFill>
          <a:ln/>
        </p:spPr>
        <p:txBody>
          <a:bodyPr/>
          <a:lstStyle/>
          <a:p>
            <a:endParaRPr lang="de-AT" sz="2800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3F7C6FBE-04A1-A747-5FF4-817ACB98CFEC}"/>
              </a:ext>
            </a:extLst>
          </p:cNvPr>
          <p:cNvSpPr/>
          <p:nvPr/>
        </p:nvSpPr>
        <p:spPr>
          <a:xfrm>
            <a:off x="950000" y="5000000"/>
            <a:ext cx="35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1C143DAC-163B-CC8F-ADB0-899D2D1B74A7}"/>
              </a:ext>
            </a:extLst>
          </p:cNvPr>
          <p:cNvSpPr/>
          <p:nvPr/>
        </p:nvSpPr>
        <p:spPr>
          <a:xfrm>
            <a:off x="1300000" y="5072880"/>
            <a:ext cx="87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Zielgruppen </a:t>
            </a:r>
            <a:r>
              <a:rPr lang="en-US" sz="1400" b="1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werden</a:t>
            </a: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erreicht</a:t>
            </a: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Pilotpraxen</a:t>
            </a: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nutzen</a:t>
            </a: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Anamnic</a:t>
            </a: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Patienten</a:t>
            </a: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nehmen</a:t>
            </a: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Anrufe</a:t>
            </a: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</a:t>
            </a:r>
            <a:endParaRPr lang="en-US" sz="14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Shape 13">
            <a:extLst>
              <a:ext uri="{FF2B5EF4-FFF2-40B4-BE49-F238E27FC236}">
                <a16:creationId xmlns:a16="http://schemas.microsoft.com/office/drawing/2014/main" id="{9D4FDDF6-1974-9AA1-C604-825AE17DF1E5}"/>
              </a:ext>
            </a:extLst>
          </p:cNvPr>
          <p:cNvSpPr/>
          <p:nvPr/>
        </p:nvSpPr>
        <p:spPr>
          <a:xfrm>
            <a:off x="900000" y="4420000"/>
            <a:ext cx="8800000" cy="520000"/>
          </a:xfrm>
          <a:prstGeom prst="roundRect">
            <a:avLst>
              <a:gd name="adj" fmla="val 5000"/>
            </a:avLst>
          </a:prstGeom>
          <a:solidFill>
            <a:srgbClr val="5FBDAE"/>
          </a:solidFill>
          <a:ln/>
        </p:spPr>
        <p:txBody>
          <a:bodyPr/>
          <a:lstStyle/>
          <a:p>
            <a:endParaRPr lang="de-AT" sz="2800"/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DA651D4E-D871-0AEB-8E48-E052F635280E}"/>
              </a:ext>
            </a:extLst>
          </p:cNvPr>
          <p:cNvSpPr/>
          <p:nvPr/>
        </p:nvSpPr>
        <p:spPr>
          <a:xfrm>
            <a:off x="950000" y="4420000"/>
            <a:ext cx="35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37B8716A-7B94-42F9-0647-1119F4F19C1E}"/>
              </a:ext>
            </a:extLst>
          </p:cNvPr>
          <p:cNvSpPr/>
          <p:nvPr/>
        </p:nvSpPr>
        <p:spPr>
          <a:xfrm>
            <a:off x="1300000" y="4481420"/>
            <a:ext cx="83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Zielgruppen </a:t>
            </a:r>
            <a:r>
              <a:rPr lang="en-US" sz="1400" b="1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akzeptieren</a:t>
            </a: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Angebote</a:t>
            </a: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Ärzte </a:t>
            </a:r>
            <a:r>
              <a:rPr lang="en-US" sz="14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integrieren</a:t>
            </a: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Berichte</a:t>
            </a: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Patienten</a:t>
            </a: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akzeptieren</a:t>
            </a: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Voice-KI</a:t>
            </a:r>
            <a:endParaRPr lang="en-US" sz="14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27" name="Shape 17">
            <a:extLst>
              <a:ext uri="{FF2B5EF4-FFF2-40B4-BE49-F238E27FC236}">
                <a16:creationId xmlns:a16="http://schemas.microsoft.com/office/drawing/2014/main" id="{1EFDC322-476F-C64D-6234-861DE6F10486}"/>
              </a:ext>
            </a:extLst>
          </p:cNvPr>
          <p:cNvSpPr/>
          <p:nvPr/>
        </p:nvSpPr>
        <p:spPr>
          <a:xfrm>
            <a:off x="900000" y="3840000"/>
            <a:ext cx="8400000" cy="520000"/>
          </a:xfrm>
          <a:prstGeom prst="roundRect">
            <a:avLst>
              <a:gd name="adj" fmla="val 5000"/>
            </a:avLst>
          </a:prstGeom>
          <a:solidFill>
            <a:srgbClr val="3AA898"/>
          </a:solidFill>
          <a:ln/>
        </p:spPr>
        <p:txBody>
          <a:bodyPr/>
          <a:lstStyle/>
          <a:p>
            <a:endParaRPr lang="de-AT" sz="2800"/>
          </a:p>
        </p:txBody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F64AFAAA-6954-E204-209A-BFC09A32DF13}"/>
              </a:ext>
            </a:extLst>
          </p:cNvPr>
          <p:cNvSpPr/>
          <p:nvPr/>
        </p:nvSpPr>
        <p:spPr>
          <a:xfrm>
            <a:off x="950000" y="3840000"/>
            <a:ext cx="35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29" name="Text 19">
            <a:extLst>
              <a:ext uri="{FF2B5EF4-FFF2-40B4-BE49-F238E27FC236}">
                <a16:creationId xmlns:a16="http://schemas.microsoft.com/office/drawing/2014/main" id="{D70BC892-7A2E-0585-9F0A-8FF05C3ACC88}"/>
              </a:ext>
            </a:extLst>
          </p:cNvPr>
          <p:cNvSpPr/>
          <p:nvPr/>
        </p:nvSpPr>
        <p:spPr>
          <a:xfrm>
            <a:off x="1300000" y="3935467"/>
            <a:ext cx="79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Bewusstsein/Fähigkeiten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ändern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Ärzte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erkennen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Wert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vorgelagerter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Anamnese</a:t>
            </a:r>
            <a:endParaRPr lang="en-US" sz="14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7A7BD4C1-F0F0-A6EF-2762-12FA142A19A2}"/>
              </a:ext>
            </a:extLst>
          </p:cNvPr>
          <p:cNvSpPr/>
          <p:nvPr/>
        </p:nvSpPr>
        <p:spPr>
          <a:xfrm>
            <a:off x="900000" y="3260000"/>
            <a:ext cx="8000000" cy="520000"/>
          </a:xfrm>
          <a:prstGeom prst="roundRect">
            <a:avLst>
              <a:gd name="adj" fmla="val 5000"/>
            </a:avLst>
          </a:prstGeom>
          <a:solidFill>
            <a:srgbClr val="1E8C7D"/>
          </a:solidFill>
          <a:ln/>
        </p:spPr>
        <p:txBody>
          <a:bodyPr/>
          <a:lstStyle/>
          <a:p>
            <a:endParaRPr lang="de-AT" sz="2800"/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69CE05B3-C54C-AF91-3583-43153BAD399E}"/>
              </a:ext>
            </a:extLst>
          </p:cNvPr>
          <p:cNvSpPr/>
          <p:nvPr/>
        </p:nvSpPr>
        <p:spPr>
          <a:xfrm>
            <a:off x="950000" y="3260000"/>
            <a:ext cx="35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/>
          </a:p>
        </p:txBody>
      </p:sp>
      <p:sp>
        <p:nvSpPr>
          <p:cNvPr id="32" name="Text 23">
            <a:extLst>
              <a:ext uri="{FF2B5EF4-FFF2-40B4-BE49-F238E27FC236}">
                <a16:creationId xmlns:a16="http://schemas.microsoft.com/office/drawing/2014/main" id="{A6B10853-E592-CA0A-167E-B90B44D1ECFD}"/>
              </a:ext>
            </a:extLst>
          </p:cNvPr>
          <p:cNvSpPr/>
          <p:nvPr/>
        </p:nvSpPr>
        <p:spPr>
          <a:xfrm>
            <a:off x="1300000" y="3335773"/>
            <a:ext cx="75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Zielgruppen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ändern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Handeln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Praxen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verlagern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Anamnese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systematisch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den Termin</a:t>
            </a:r>
            <a:endParaRPr lang="en-US" sz="14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AB85FD4B-1E2D-8CDC-F88E-3159EF8CD76B}"/>
              </a:ext>
            </a:extLst>
          </p:cNvPr>
          <p:cNvSpPr/>
          <p:nvPr/>
        </p:nvSpPr>
        <p:spPr>
          <a:xfrm>
            <a:off x="900000" y="2680000"/>
            <a:ext cx="7600000" cy="520000"/>
          </a:xfrm>
          <a:prstGeom prst="roundRect">
            <a:avLst>
              <a:gd name="adj" fmla="val 5000"/>
            </a:avLst>
          </a:prstGeom>
          <a:solidFill>
            <a:srgbClr val="0E6B5F"/>
          </a:solidFill>
          <a:ln/>
        </p:spPr>
        <p:txBody>
          <a:bodyPr/>
          <a:lstStyle/>
          <a:p>
            <a:endParaRPr lang="de-AT" sz="2800"/>
          </a:p>
        </p:txBody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AACCF5F3-9EA4-0C95-3CCC-DAE2C0720F6E}"/>
              </a:ext>
            </a:extLst>
          </p:cNvPr>
          <p:cNvSpPr/>
          <p:nvPr/>
        </p:nvSpPr>
        <p:spPr>
          <a:xfrm>
            <a:off x="950000" y="2680000"/>
            <a:ext cx="35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dirty="0"/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8F0813FA-E036-8130-67F5-C9D2FEDD4CED}"/>
              </a:ext>
            </a:extLst>
          </p:cNvPr>
          <p:cNvSpPr/>
          <p:nvPr/>
        </p:nvSpPr>
        <p:spPr>
          <a:xfrm>
            <a:off x="1300000" y="2742228"/>
            <a:ext cx="71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Lebenslage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ändert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 err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Bessere</a:t>
            </a: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Konsultationen</a:t>
            </a: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</a:t>
            </a:r>
            <a:r>
              <a:rPr lang="en-US" sz="1400" dirty="0" err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barrierefreier</a:t>
            </a: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Zugang</a:t>
            </a:r>
            <a:endParaRPr lang="en-US" sz="1400" dirty="0">
              <a:solidFill>
                <a:schemeClr val="bg2"/>
              </a:solidFill>
            </a:endParaRP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36" name="Shape 29">
            <a:extLst>
              <a:ext uri="{FF2B5EF4-FFF2-40B4-BE49-F238E27FC236}">
                <a16:creationId xmlns:a16="http://schemas.microsoft.com/office/drawing/2014/main" id="{B6D461C8-414F-8DD0-5830-7691551A24B7}"/>
              </a:ext>
            </a:extLst>
          </p:cNvPr>
          <p:cNvSpPr/>
          <p:nvPr/>
        </p:nvSpPr>
        <p:spPr>
          <a:xfrm>
            <a:off x="900000" y="2100000"/>
            <a:ext cx="7200000" cy="520000"/>
          </a:xfrm>
          <a:prstGeom prst="roundRect">
            <a:avLst>
              <a:gd name="adj" fmla="val 5000"/>
            </a:avLst>
          </a:prstGeom>
          <a:solidFill>
            <a:srgbClr val="084E44"/>
          </a:solidFill>
          <a:ln/>
        </p:spPr>
        <p:txBody>
          <a:bodyPr/>
          <a:lstStyle/>
          <a:p>
            <a:endParaRPr lang="de-AT" sz="2800"/>
          </a:p>
        </p:txBody>
      </p:sp>
      <p:sp>
        <p:nvSpPr>
          <p:cNvPr id="37" name="Text 30">
            <a:extLst>
              <a:ext uri="{FF2B5EF4-FFF2-40B4-BE49-F238E27FC236}">
                <a16:creationId xmlns:a16="http://schemas.microsoft.com/office/drawing/2014/main" id="{9346DA35-D299-6B43-E4B8-36C0BF0547A0}"/>
              </a:ext>
            </a:extLst>
          </p:cNvPr>
          <p:cNvSpPr/>
          <p:nvPr/>
        </p:nvSpPr>
        <p:spPr>
          <a:xfrm>
            <a:off x="950000" y="2100000"/>
            <a:ext cx="35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dirty="0"/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887BE36-1D05-C8AD-4484-F1B3BE4BDD9E}"/>
              </a:ext>
            </a:extLst>
          </p:cNvPr>
          <p:cNvSpPr/>
          <p:nvPr/>
        </p:nvSpPr>
        <p:spPr>
          <a:xfrm>
            <a:off x="1300000" y="2175920"/>
            <a:ext cx="67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Gesellschaft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verändert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 err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Nachhaltige</a:t>
            </a: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Entlastung</a:t>
            </a: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</a:t>
            </a:r>
            <a:r>
              <a:rPr lang="en-US" sz="1400" dirty="0" err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Gesundheitssystems</a:t>
            </a:r>
            <a:endParaRPr lang="en-US" sz="1400" dirty="0">
              <a:solidFill>
                <a:schemeClr val="bg2"/>
              </a:solidFill>
            </a:endParaRP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0A8B2335-5626-84A7-3393-D89D1C17F188}"/>
              </a:ext>
            </a:extLst>
          </p:cNvPr>
          <p:cNvSpPr/>
          <p:nvPr/>
        </p:nvSpPr>
        <p:spPr>
          <a:xfrm>
            <a:off x="10250000" y="5122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0FC581B0-2472-6806-6C98-A2E9DDD813DC}"/>
              </a:ext>
            </a:extLst>
          </p:cNvPr>
          <p:cNvSpPr/>
          <p:nvPr/>
        </p:nvSpPr>
        <p:spPr>
          <a:xfrm>
            <a:off x="9450000" y="3962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400" dirty="0"/>
          </a:p>
        </p:txBody>
      </p:sp>
      <p:sp>
        <p:nvSpPr>
          <p:cNvPr id="41" name="Text 35">
            <a:extLst>
              <a:ext uri="{FF2B5EF4-FFF2-40B4-BE49-F238E27FC236}">
                <a16:creationId xmlns:a16="http://schemas.microsoft.com/office/drawing/2014/main" id="{B85978B5-2E1D-07F8-AD54-88A269D8EB2E}"/>
              </a:ext>
            </a:extLst>
          </p:cNvPr>
          <p:cNvSpPr/>
          <p:nvPr/>
        </p:nvSpPr>
        <p:spPr>
          <a:xfrm>
            <a:off x="8250000" y="2222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50771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70560"/>
          </a:xfrm>
          <a:prstGeom prst="rect">
            <a:avLst/>
          </a:prstGeom>
          <a:solidFill>
            <a:srgbClr val="0E6B5F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60960"/>
            <a:ext cx="609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Preseed – Innovative Solutions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720" y="85344"/>
            <a:ext cx="487680" cy="48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38560" y="6339840"/>
            <a:ext cx="60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731520" y="853440"/>
            <a:ext cx="10728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7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Geschäftsmodell</a:t>
            </a:r>
            <a:endParaRPr lang="en-US" sz="347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09600" y="1798320"/>
            <a:ext cx="3413760" cy="2133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09600" y="1798320"/>
            <a:ext cx="3413760" cy="609600"/>
          </a:xfrm>
          <a:prstGeom prst="rect">
            <a:avLst/>
          </a:prstGeom>
          <a:solidFill>
            <a:srgbClr val="1B9E8B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92480" y="1798320"/>
            <a:ext cx="304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92480" y="2493264"/>
            <a:ext cx="3048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F09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150 €/Mo.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92480" y="2895600"/>
            <a:ext cx="304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Einzelpraxen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Basis-Features</a:t>
            </a:r>
          </a:p>
          <a:p>
            <a:pPr defTabSz="1219170"/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100 Anrufe/Monat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389120" y="1798320"/>
            <a:ext cx="3413760" cy="2133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389120" y="1798320"/>
            <a:ext cx="3413760" cy="609600"/>
          </a:xfrm>
          <a:prstGeom prst="rect">
            <a:avLst/>
          </a:prstGeom>
          <a:solidFill>
            <a:srgbClr val="0E6B5F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572000" y="1798320"/>
            <a:ext cx="304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572000" y="2493264"/>
            <a:ext cx="3048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F09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300 €/Mo.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572000" y="2895600"/>
            <a:ext cx="304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Gemeinschaftspraxen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erweitertes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</a:t>
            </a:r>
            <a:endParaRPr lang="en-US" sz="1400" dirty="0">
              <a:solidFill>
                <a:srgbClr val="2D2D2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defTabSz="1219170"/>
            <a:r>
              <a:rPr lang="en-US" sz="14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strukturierter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PVS-Export (HL7, FHIR, …)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8168640" y="1798320"/>
            <a:ext cx="3413760" cy="2133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8168640" y="1798320"/>
            <a:ext cx="3413760" cy="609600"/>
          </a:xfrm>
          <a:prstGeom prst="rect">
            <a:avLst/>
          </a:prstGeom>
          <a:solidFill>
            <a:srgbClr val="0A4F46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8351520" y="1798320"/>
            <a:ext cx="304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8351520" y="2493264"/>
            <a:ext cx="3048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F09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</a:t>
            </a:r>
            <a:r>
              <a:rPr lang="en-US" sz="2400" b="1" dirty="0" err="1">
                <a:solidFill>
                  <a:srgbClr val="F09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Anfrage</a:t>
            </a:r>
            <a:r>
              <a:rPr lang="en-US" sz="2400" b="1" dirty="0">
                <a:solidFill>
                  <a:srgbClr val="F09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>
                <a:solidFill>
                  <a:srgbClr val="F09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de-AT" b="1" dirty="0">
                <a:solidFill>
                  <a:srgbClr val="F09819"/>
                </a:solidFill>
              </a:rPr>
              <a:t>auf Anfrage (Ø ~ 720 €/Mo.)</a:t>
            </a:r>
            <a:r>
              <a:rPr lang="en-US" b="1" dirty="0">
                <a:solidFill>
                  <a:srgbClr val="F09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8351520" y="2895600"/>
            <a:ext cx="304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PVEs / Kliniken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</a:t>
            </a:r>
          </a:p>
          <a:p>
            <a:pPr defTabSz="1219170"/>
            <a:r>
              <a:rPr lang="en-US" sz="14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individuelle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Anpassungen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609600" y="4236720"/>
            <a:ext cx="5242560" cy="1767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609600" y="4236720"/>
            <a:ext cx="85344" cy="1767840"/>
          </a:xfrm>
          <a:prstGeom prst="rect">
            <a:avLst/>
          </a:prstGeom>
          <a:solidFill>
            <a:srgbClr val="1B9E8B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914400" y="429768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Skalierbarkeit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cloudbasiert</a:t>
            </a:r>
            <a:endParaRPr lang="en-US" sz="1467" dirty="0">
              <a:solidFill>
                <a:srgbClr val="2D2D2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defTabSz="1219170"/>
            <a:r>
              <a:rPr lang="en-US" sz="1467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</a:t>
            </a:r>
            <a:r>
              <a:rPr lang="en-US" sz="14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zusätzliche Hardware beim Kunden </a:t>
            </a:r>
            <a:r>
              <a:rPr lang="en-US" sz="1467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nötig</a:t>
            </a:r>
            <a:endParaRPr lang="en-US" sz="1467" dirty="0">
              <a:solidFill>
                <a:srgbClr val="2D2D2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defTabSz="1219170"/>
            <a:r>
              <a:rPr lang="en-US" sz="1467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technologisch</a:t>
            </a:r>
            <a:r>
              <a:rPr lang="en-US" sz="14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67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bedarfsgesteuert</a:t>
            </a:r>
            <a:r>
              <a:rPr lang="en-US" sz="14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67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skalierbar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6339840" y="4236720"/>
            <a:ext cx="5242560" cy="1767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6339840" y="4236720"/>
            <a:ext cx="85344" cy="1767840"/>
          </a:xfrm>
          <a:prstGeom prst="rect">
            <a:avLst/>
          </a:prstGeom>
          <a:solidFill>
            <a:srgbClr val="1B9E8B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6644640" y="429768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Vertriebsstrategie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Sales fokussiert auf größere Einrichtungen (PVEs) </a:t>
            </a:r>
          </a:p>
          <a:p>
            <a:pPr defTabSz="1219170"/>
            <a:r>
              <a:rPr lang="en-US" sz="14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begleitete Pilotphase (30–60 Tage) </a:t>
            </a:r>
          </a:p>
          <a:p>
            <a:pPr defTabSz="1219170"/>
            <a:r>
              <a:rPr lang="en-US" sz="14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Conversion in </a:t>
            </a:r>
            <a:r>
              <a:rPr lang="en-US" sz="1467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langfristige</a:t>
            </a:r>
            <a:r>
              <a:rPr lang="en-US" sz="14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67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Verträge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70560"/>
          </a:xfrm>
          <a:prstGeom prst="rect">
            <a:avLst/>
          </a:prstGeom>
          <a:solidFill>
            <a:srgbClr val="0E6B5F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60960"/>
            <a:ext cx="609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Preseed – Innovative Solutions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720" y="85344"/>
            <a:ext cx="487680" cy="48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38560" y="6339840"/>
            <a:ext cx="60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731520" y="853440"/>
            <a:ext cx="10728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7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</a:t>
            </a:r>
            <a:endParaRPr lang="en-US" sz="347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828800" y="1859280"/>
            <a:ext cx="2438400" cy="2438400"/>
          </a:xfrm>
          <a:prstGeom prst="ellipse">
            <a:avLst/>
          </a:prstGeom>
          <a:solidFill>
            <a:srgbClr val="B2DFDB">
              <a:alpha val="70000"/>
            </a:srgbClr>
          </a:solidFill>
          <a:ln w="12700">
            <a:solidFill>
              <a:srgbClr val="0E6B5F"/>
            </a:solidFill>
            <a:prstDash val="solid"/>
          </a:ln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2133600" y="2164080"/>
            <a:ext cx="1828800" cy="1828800"/>
          </a:xfrm>
          <a:prstGeom prst="ellipse">
            <a:avLst/>
          </a:prstGeom>
          <a:solidFill>
            <a:srgbClr val="4DB6AC">
              <a:alpha val="80000"/>
            </a:srgbClr>
          </a:solidFill>
          <a:ln w="12700">
            <a:solidFill>
              <a:srgbClr val="0E6B5F"/>
            </a:solidFill>
            <a:prstDash val="solid"/>
          </a:ln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2438400" y="2468880"/>
            <a:ext cx="1219200" cy="1219200"/>
          </a:xfrm>
          <a:prstGeom prst="ellipse">
            <a:avLst/>
          </a:prstGeom>
          <a:solidFill>
            <a:srgbClr val="0E6B5F"/>
          </a:solidFill>
          <a:ln w="12700">
            <a:solidFill>
              <a:srgbClr val="0E6B5F"/>
            </a:solidFill>
            <a:prstDash val="solid"/>
          </a:ln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010912" y="1676400"/>
            <a:ext cx="6571488" cy="853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402757" y="1889760"/>
            <a:ext cx="426720" cy="426720"/>
          </a:xfrm>
          <a:prstGeom prst="ellipse">
            <a:avLst/>
          </a:prstGeom>
          <a:solidFill>
            <a:srgbClr val="B2DFDB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096000" y="1737360"/>
            <a:ext cx="536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(DACH)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Gesamter adressierbarer Markt für eHealth-/Praxissoftware-Erweiterungen (~250 Mio. €) </a:t>
            </a: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010912" y="2660904"/>
            <a:ext cx="6571488" cy="853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402757" y="2877312"/>
            <a:ext cx="426720" cy="426720"/>
          </a:xfrm>
          <a:prstGeom prst="ellipse">
            <a:avLst/>
          </a:prstGeom>
          <a:solidFill>
            <a:srgbClr val="4DB6AC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096000" y="271272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(Österreich)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Realistischer Zielmarkt in AT (~30 Mio. €) </a:t>
            </a: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010912" y="3627120"/>
            <a:ext cx="6571488" cy="853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402757" y="3941064"/>
            <a:ext cx="426720" cy="426720"/>
          </a:xfrm>
          <a:prstGeom prst="ellipse">
            <a:avLst/>
          </a:prstGeom>
          <a:solidFill>
            <a:srgbClr val="0E6B5F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096000" y="3688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(Markteintritt)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Fokussegment erste 4 Jahre (~228.000 €) </a:t>
            </a: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09600" y="4937760"/>
            <a:ext cx="10972800" cy="792480"/>
          </a:xfrm>
          <a:prstGeom prst="rect">
            <a:avLst/>
          </a:prstGeom>
          <a:solidFill>
            <a:srgbClr val="E8F5F2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853440" y="4928616"/>
            <a:ext cx="107899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Zielgruppe Markteintritt: </a:t>
            </a:r>
          </a:p>
          <a:p>
            <a:pPr defTabSz="1219170"/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Primärversorgungseinheiten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(PVEs) und stark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frequentierte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Kassen-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Gemeinschaftspraxen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5">
            <a:extLst>
              <a:ext uri="{FF2B5EF4-FFF2-40B4-BE49-F238E27FC236}">
                <a16:creationId xmlns:a16="http://schemas.microsoft.com/office/drawing/2014/main" id="{7B85EDB7-BD88-DCBE-90DF-90E9C2ECE73F}"/>
              </a:ext>
            </a:extLst>
          </p:cNvPr>
          <p:cNvSpPr/>
          <p:nvPr/>
        </p:nvSpPr>
        <p:spPr>
          <a:xfrm>
            <a:off x="609600" y="5547360"/>
            <a:ext cx="10972800" cy="1036320"/>
          </a:xfrm>
          <a:prstGeom prst="rect">
            <a:avLst/>
          </a:prstGeom>
          <a:solidFill>
            <a:srgbClr val="E8F5F2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6">
            <a:extLst>
              <a:ext uri="{FF2B5EF4-FFF2-40B4-BE49-F238E27FC236}">
                <a16:creationId xmlns:a16="http://schemas.microsoft.com/office/drawing/2014/main" id="{5E222F50-5B13-3B4E-78F7-E9F7F5E3ADFF}"/>
              </a:ext>
            </a:extLst>
          </p:cNvPr>
          <p:cNvSpPr/>
          <p:nvPr/>
        </p:nvSpPr>
        <p:spPr>
          <a:xfrm>
            <a:off x="853440" y="5547360"/>
            <a:ext cx="9952074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 err="1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Marktdynamik</a:t>
            </a:r>
            <a:r>
              <a:rPr lang="en-US" sz="1600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</a:p>
          <a:p>
            <a:pPr defTabSz="1219170"/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Rückenwind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durch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Ärztemangel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nationale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eHealth-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Strategie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[8] und den European Health Data Space (EHDS) </a:t>
            </a: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1600" dirty="0"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70560"/>
          </a:xfrm>
          <a:prstGeom prst="rect">
            <a:avLst/>
          </a:prstGeom>
          <a:solidFill>
            <a:srgbClr val="0E6B5F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60960"/>
            <a:ext cx="609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Preseed – Innovative Solutions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720" y="85344"/>
            <a:ext cx="487680" cy="48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38560" y="6339840"/>
            <a:ext cx="60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731520" y="853440"/>
            <a:ext cx="10728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7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Mitbewerb &amp; Umfeld</a:t>
            </a:r>
            <a:endParaRPr lang="en-US" sz="3470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923851"/>
              </p:ext>
            </p:extLst>
          </p:nvPr>
        </p:nvGraphicFramePr>
        <p:xfrm>
          <a:off x="609598" y="1776984"/>
          <a:ext cx="10972799" cy="2386584"/>
        </p:xfrm>
        <a:graphic>
          <a:graphicData uri="http://schemas.openxmlformats.org/drawingml/2006/table">
            <a:tbl>
              <a:tblPr/>
              <a:tblGrid>
                <a:gridCol w="3040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3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30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30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30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77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Kriterium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Idana / Nelly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CGM (Ambulapps)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Tandem Health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ANAMNIC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Vor dem Termin ansetzend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9E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9E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9E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Sprachbasiert (Voice)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9E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9E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Barrierearm (ohne App/Smartphone)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170" rtl="0" eaLnBrk="1" latinLnBrk="0" hangingPunct="1">
                        <a:buNone/>
                      </a:pPr>
                      <a:r>
                        <a:rPr lang="en-US" sz="1300" kern="1200" dirty="0">
                          <a:solidFill>
                            <a:srgbClr val="1B9E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9E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Vorstrukturierend für die Praxis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9E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9E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098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Teilweise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9E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Inklusiver Zugang (Alter, Sprache)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9E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25">
            <a:extLst>
              <a:ext uri="{FF2B5EF4-FFF2-40B4-BE49-F238E27FC236}">
                <a16:creationId xmlns:a16="http://schemas.microsoft.com/office/drawing/2014/main" id="{9F7E47CA-2EC2-56EF-DBCE-35B52391A9E1}"/>
              </a:ext>
            </a:extLst>
          </p:cNvPr>
          <p:cNvSpPr/>
          <p:nvPr/>
        </p:nvSpPr>
        <p:spPr>
          <a:xfrm>
            <a:off x="609600" y="4672584"/>
            <a:ext cx="10972800" cy="1911096"/>
          </a:xfrm>
          <a:prstGeom prst="rect">
            <a:avLst/>
          </a:prstGeom>
          <a:solidFill>
            <a:srgbClr val="E8F5F2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26">
            <a:extLst>
              <a:ext uri="{FF2B5EF4-FFF2-40B4-BE49-F238E27FC236}">
                <a16:creationId xmlns:a16="http://schemas.microsoft.com/office/drawing/2014/main" id="{2EB46AD3-EA68-5F85-C95F-093A7C49E13E}"/>
              </a:ext>
            </a:extLst>
          </p:cNvPr>
          <p:cNvSpPr/>
          <p:nvPr/>
        </p:nvSpPr>
        <p:spPr>
          <a:xfrm>
            <a:off x="853440" y="4764024"/>
            <a:ext cx="9952074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Die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Wettbewerbslandschaft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differenziert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sich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stark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bei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den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Faktoren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Zeitpunkt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und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Zugänglichkeit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defTabSz="1219170"/>
            <a:endParaRPr lang="en-US" sz="16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Formular-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Lösungen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(Idana, Nelly)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setzen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vor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dem Termin an,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sind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aber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nicht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sprachbasiert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 CGM (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Ambulapps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digitalisiert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Praxisprozesse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bleibt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aber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formularbasiert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 Scribing-Tools (Tandem Health)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sind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sprachbasiert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setzen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aber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erst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während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des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Termins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an.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Anamnic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verbindet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„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vorab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“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„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Sprache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“.</a:t>
            </a:r>
          </a:p>
          <a:p>
            <a:endParaRPr lang="en-US" sz="16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Der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Vorsprung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liegt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in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einer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veränderten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Zugangsarchitektur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höherem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Impact-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Potenzial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für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benachteiligte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Gruppen.</a:t>
            </a:r>
            <a:endParaRPr lang="en-US" sz="1600" dirty="0"/>
          </a:p>
          <a:p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70560"/>
          </a:xfrm>
          <a:prstGeom prst="rect">
            <a:avLst/>
          </a:prstGeom>
          <a:solidFill>
            <a:srgbClr val="0E6B5F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60960"/>
            <a:ext cx="609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Preseed – Innovative Solutions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720" y="85344"/>
            <a:ext cx="487680" cy="48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38560" y="6339840"/>
            <a:ext cx="60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731520" y="853440"/>
            <a:ext cx="10728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7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347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09600" y="1767840"/>
            <a:ext cx="3657600" cy="426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011680"/>
            <a:ext cx="2682240" cy="2682240"/>
          </a:xfrm>
          <a:prstGeom prst="ellipse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4754880"/>
            <a:ext cx="3413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Fehringer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31520" y="5120640"/>
            <a:ext cx="34137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Gründer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4632960" y="1767840"/>
            <a:ext cx="6949440" cy="23616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632960" y="1767840"/>
            <a:ext cx="85344" cy="2361692"/>
          </a:xfrm>
          <a:prstGeom prst="rect">
            <a:avLst/>
          </a:prstGeom>
          <a:solidFill>
            <a:srgbClr val="1B9E8B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937760" y="1877822"/>
            <a:ext cx="646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b="1" dirty="0" err="1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Vorhabenspezifische</a:t>
            </a:r>
            <a:r>
              <a:rPr lang="en-US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Qualifikationen</a:t>
            </a:r>
            <a:endParaRPr lang="en-US" b="1" dirty="0">
              <a:solidFill>
                <a:srgbClr val="0E6B5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defTabSz="1219170"/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4937760" y="2386584"/>
            <a:ext cx="646176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Data Science &amp; Engineering: </a:t>
            </a:r>
          </a:p>
          <a:p>
            <a:pPr defTabSz="1219170"/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Know-how im Bereich LLMs, NLP und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Datenarchitekturen</a:t>
            </a:r>
            <a:endParaRPr lang="en-US" sz="1600" dirty="0">
              <a:solidFill>
                <a:srgbClr val="2D2D2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defTabSz="1219170"/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Masterarbeit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Bereich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European Health Data Space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endParaRPr lang="en-US" sz="1600" b="1" dirty="0">
              <a:solidFill>
                <a:srgbClr val="2D2D2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defTabSz="1219170"/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Medizininformatik: </a:t>
            </a:r>
          </a:p>
          <a:p>
            <a:pPr defTabSz="1219170"/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Tiefes Verständnis für FHIR, HL7 und ELGA/EHDS.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Verbindung aus technischer Umsetzungsfähigkeit und regulatorischem Systemverständnis.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4675632" y="4227576"/>
            <a:ext cx="6949440" cy="18262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4632960" y="4227576"/>
            <a:ext cx="85344" cy="1826260"/>
          </a:xfrm>
          <a:prstGeom prst="rect">
            <a:avLst/>
          </a:prstGeom>
          <a:solidFill>
            <a:srgbClr val="1B9E8B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4876800" y="4288536"/>
            <a:ext cx="6461760" cy="1667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 err="1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Geplante</a:t>
            </a:r>
            <a:r>
              <a:rPr lang="en-US" sz="1600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zusätzliche</a:t>
            </a:r>
            <a:r>
              <a:rPr lang="en-US" sz="1600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Rollen: </a:t>
            </a:r>
          </a:p>
          <a:p>
            <a:pPr marL="285750" indent="-285750" defTabSz="121917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Medizinische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Fachberater:innen</a:t>
            </a:r>
            <a:endParaRPr lang="en-US" sz="1600" dirty="0">
              <a:solidFill>
                <a:srgbClr val="2D2D2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 defTabSz="121917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Juristischer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Beratung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Regulatorik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285750" indent="-285750" defTabSz="121917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Entwicklungs-Ressourcen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späteren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Wachstum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70560"/>
          </a:xfrm>
          <a:prstGeom prst="rect">
            <a:avLst/>
          </a:prstGeom>
          <a:solidFill>
            <a:srgbClr val="0E6B5F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60960"/>
            <a:ext cx="609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Preseed – Innovative Solutions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720" y="85344"/>
            <a:ext cx="487680" cy="48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38560" y="6339840"/>
            <a:ext cx="60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731520" y="853440"/>
            <a:ext cx="10728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Kooperationen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09600" y="1615440"/>
            <a:ext cx="5303520" cy="1950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09600" y="1615440"/>
            <a:ext cx="5303520" cy="487680"/>
          </a:xfrm>
          <a:prstGeom prst="rect">
            <a:avLst/>
          </a:prstGeom>
          <a:solidFill>
            <a:srgbClr val="1B9E8B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92480" y="1615440"/>
            <a:ext cx="4937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Pilotpraxen /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Pilotkund:innen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92480" y="21640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Rolle: 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Iteratives Testen und Feedback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Echtbetrieb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600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Basis: 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LOIs (Letter of Intent) in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Anbahnung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278880" y="1615440"/>
            <a:ext cx="5303520" cy="1950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278880" y="1615440"/>
            <a:ext cx="5303520" cy="487680"/>
          </a:xfrm>
          <a:prstGeom prst="rect">
            <a:avLst/>
          </a:prstGeom>
          <a:solidFill>
            <a:srgbClr val="1B9E8B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461760" y="1615440"/>
            <a:ext cx="4937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Medizinische Fachberatung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461760" y="21640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Rolle: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Fachliche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Validierung der KI-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Gesprächsführung</a:t>
            </a:r>
            <a:endParaRPr lang="en-US" sz="1600" dirty="0">
              <a:solidFill>
                <a:srgbClr val="2D2D2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defTabSz="1219170"/>
            <a:r>
              <a:rPr lang="en-US" sz="1600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Basis: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Beratende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Begleitung der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Pilotphase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09600" y="3749040"/>
            <a:ext cx="5303520" cy="1950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09600" y="3749040"/>
            <a:ext cx="5303520" cy="487680"/>
          </a:xfrm>
          <a:prstGeom prst="rect">
            <a:avLst/>
          </a:prstGeom>
          <a:solidFill>
            <a:srgbClr val="1B9E8B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92480" y="3749040"/>
            <a:ext cx="4937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 &amp; Medizinrecht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92480" y="42976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Rolle: 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Regulatorische Sicherheit (MDR-Abgrenzung, DSGVO-konforme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600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Basis: 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 Dienstleister /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Kanzleien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278880" y="3749040"/>
            <a:ext cx="5303520" cy="1950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278880" y="3749040"/>
            <a:ext cx="5303520" cy="487680"/>
          </a:xfrm>
          <a:prstGeom prst="rect">
            <a:avLst/>
          </a:prstGeom>
          <a:solidFill>
            <a:srgbClr val="1B9E8B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461760" y="3749040"/>
            <a:ext cx="4937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Strategische Technologie-Enabler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461760" y="42976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Rolle: 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 Infrastruktur (Telefonie, Hosting,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Sprachmodelle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600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Basis: 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Vorhandene Infrastrukturpartner (z.B. sipgate, Cloud-Provider)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5">
            <a:extLst>
              <a:ext uri="{FF2B5EF4-FFF2-40B4-BE49-F238E27FC236}">
                <a16:creationId xmlns:a16="http://schemas.microsoft.com/office/drawing/2014/main" id="{5A443271-4527-CFB6-EC43-8CA49C0103A4}"/>
              </a:ext>
            </a:extLst>
          </p:cNvPr>
          <p:cNvSpPr/>
          <p:nvPr/>
        </p:nvSpPr>
        <p:spPr>
          <a:xfrm>
            <a:off x="609600" y="5821680"/>
            <a:ext cx="10972800" cy="762000"/>
          </a:xfrm>
          <a:prstGeom prst="rect">
            <a:avLst/>
          </a:prstGeom>
          <a:solidFill>
            <a:srgbClr val="E8F5F2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6">
            <a:extLst>
              <a:ext uri="{FF2B5EF4-FFF2-40B4-BE49-F238E27FC236}">
                <a16:creationId xmlns:a16="http://schemas.microsoft.com/office/drawing/2014/main" id="{39AB5D8E-3568-91D9-F723-0E696647A3D6}"/>
              </a:ext>
            </a:extLst>
          </p:cNvPr>
          <p:cNvSpPr/>
          <p:nvPr/>
        </p:nvSpPr>
        <p:spPr>
          <a:xfrm>
            <a:off x="853440" y="5699760"/>
            <a:ext cx="9952074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 err="1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</a:t>
            </a:r>
            <a:r>
              <a:rPr lang="en-US" sz="1600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</a:p>
          <a:p>
            <a:pPr defTabSz="1219170"/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Validierungspartner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aus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der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medizinischen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Praxis und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rechtliche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Absicherung</a:t>
            </a:r>
            <a:endParaRPr lang="en-US" sz="1600" dirty="0"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70560"/>
          </a:xfrm>
          <a:prstGeom prst="rect">
            <a:avLst/>
          </a:prstGeom>
          <a:solidFill>
            <a:srgbClr val="0E6B5F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60960"/>
            <a:ext cx="609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Preseed – Innovative Solutions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720" y="85344"/>
            <a:ext cx="487680" cy="48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38560" y="6339840"/>
            <a:ext cx="60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731520" y="853440"/>
            <a:ext cx="10728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7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Quo &amp; Next Steps</a:t>
            </a:r>
            <a:endParaRPr lang="en-US" sz="347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09600" y="1680971"/>
            <a:ext cx="5242560" cy="2804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09600" y="1680971"/>
            <a:ext cx="5242560" cy="487680"/>
          </a:xfrm>
          <a:prstGeom prst="rect">
            <a:avLst/>
          </a:prstGeom>
          <a:solidFill>
            <a:srgbClr val="1B9E8B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53440" y="1680971"/>
            <a:ext cx="4754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Bereits abgeschlossen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40" y="2351531"/>
            <a:ext cx="268224" cy="2682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2314955"/>
            <a:ext cx="4389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Konzept- und Architekturphase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40" y="2839211"/>
            <a:ext cx="268224" cy="2682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2802635"/>
            <a:ext cx="4389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Technische Machbarkeit verifiziert (STT, LLM,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Telefonie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-APIs)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40" y="3326891"/>
            <a:ext cx="268224" cy="26822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80160" y="3290315"/>
            <a:ext cx="4389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Regulatorische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Ersteinordnung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vorgenommen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40" y="3814571"/>
            <a:ext cx="268224" cy="26822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80160" y="3777995"/>
            <a:ext cx="4389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 und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Finanzplanung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strukturiert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2"/>
          <p:cNvSpPr/>
          <p:nvPr/>
        </p:nvSpPr>
        <p:spPr>
          <a:xfrm>
            <a:off x="6339840" y="1680971"/>
            <a:ext cx="5242560" cy="2804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3"/>
          <p:cNvSpPr/>
          <p:nvPr/>
        </p:nvSpPr>
        <p:spPr>
          <a:xfrm>
            <a:off x="6339840" y="1680971"/>
            <a:ext cx="5242560" cy="487680"/>
          </a:xfrm>
          <a:prstGeom prst="rect">
            <a:avLst/>
          </a:prstGeom>
          <a:solidFill>
            <a:srgbClr val="1B9E8B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4"/>
          <p:cNvSpPr/>
          <p:nvPr/>
        </p:nvSpPr>
        <p:spPr>
          <a:xfrm>
            <a:off x="6583680" y="1680971"/>
            <a:ext cx="4754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Nächste Schritte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15"/>
          <p:cNvSpPr/>
          <p:nvPr/>
        </p:nvSpPr>
        <p:spPr>
          <a:xfrm>
            <a:off x="6583680" y="2351531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Q2/Q3 2026: </a:t>
            </a:r>
          </a:p>
          <a:p>
            <a:pPr defTabSz="1219170"/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Förderanträge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Gründung, Sicherung von LOI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6583680" y="3052571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Q3/Q4 2026: </a:t>
            </a:r>
          </a:p>
          <a:p>
            <a:pPr defTabSz="1219170"/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Entwicklung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Backend / Gesprächslogik, Fertigstellung des MVPs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6583680" y="3720083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Q1/Q2 2027: </a:t>
            </a:r>
          </a:p>
          <a:p>
            <a:pPr defTabSz="1219170"/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Pilotbetrieb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Erhebung von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Praxisdaten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ED9232AB-0593-981D-2B46-53E8AD46540B}"/>
              </a:ext>
            </a:extLst>
          </p:cNvPr>
          <p:cNvSpPr/>
          <p:nvPr/>
        </p:nvSpPr>
        <p:spPr>
          <a:xfrm>
            <a:off x="609600" y="4931663"/>
            <a:ext cx="10972800" cy="1310641"/>
          </a:xfrm>
          <a:prstGeom prst="rect">
            <a:avLst/>
          </a:prstGeom>
          <a:solidFill>
            <a:srgbClr val="E8F5F2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316CCC0A-0F81-E3F8-6B1E-04A0C3E735D1}"/>
              </a:ext>
            </a:extLst>
          </p:cNvPr>
          <p:cNvSpPr/>
          <p:nvPr/>
        </p:nvSpPr>
        <p:spPr>
          <a:xfrm>
            <a:off x="853440" y="4809744"/>
            <a:ext cx="9952074" cy="1423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 err="1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</a:t>
            </a:r>
            <a:r>
              <a:rPr lang="en-US" sz="1600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</a:p>
          <a:p>
            <a:pPr defTabSz="1219170"/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Konzept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und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sind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erarbeitet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– der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Fokus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liegt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auf MVP und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Pilotierung</a:t>
            </a:r>
            <a:endParaRPr lang="en-US" sz="16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defTabSz="1219170"/>
            <a:endParaRPr lang="en-US" sz="16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defTabSz="1219170"/>
            <a:r>
              <a:rPr lang="en-US" sz="1600" b="1" dirty="0" err="1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Meilensteine</a:t>
            </a:r>
            <a:r>
              <a:rPr lang="en-US" sz="1600" b="1" dirty="0">
                <a:solidFill>
                  <a:srgbClr val="0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defTabSz="1219170"/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MS1: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Fördervertrag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→  MS2: Demo-MVP &amp; LOIs  →  MS3: Start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Pilotpraxen</a:t>
            </a:r>
            <a:endParaRPr lang="en-US" sz="1600" dirty="0"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D36ACD-7F58-A28E-2FA2-73F32E8AA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3398130-EDFE-3345-A9EC-4597253B9CC9}"/>
              </a:ext>
            </a:extLst>
          </p:cNvPr>
          <p:cNvSpPr/>
          <p:nvPr/>
        </p:nvSpPr>
        <p:spPr>
          <a:xfrm>
            <a:off x="0" y="0"/>
            <a:ext cx="12192000" cy="670560"/>
          </a:xfrm>
          <a:prstGeom prst="rect">
            <a:avLst/>
          </a:prstGeom>
          <a:solidFill>
            <a:srgbClr val="0E6B5F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77502A9-CC6D-9D80-0723-39AC75BB65A8}"/>
              </a:ext>
            </a:extLst>
          </p:cNvPr>
          <p:cNvSpPr/>
          <p:nvPr/>
        </p:nvSpPr>
        <p:spPr>
          <a:xfrm>
            <a:off x="609600" y="60960"/>
            <a:ext cx="609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Preseed – Innovative Solutions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0011A393-3881-0DDC-5A63-6D6DBDA06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720" y="85344"/>
            <a:ext cx="487680" cy="48768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FECFDE8A-7DC2-7B1C-5044-3472F893D46C}"/>
              </a:ext>
            </a:extLst>
          </p:cNvPr>
          <p:cNvSpPr/>
          <p:nvPr/>
        </p:nvSpPr>
        <p:spPr>
          <a:xfrm>
            <a:off x="11338560" y="6339840"/>
            <a:ext cx="60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9E25BE5-7B3D-D52A-5F9A-0DFD3153492C}"/>
              </a:ext>
            </a:extLst>
          </p:cNvPr>
          <p:cNvSpPr/>
          <p:nvPr/>
        </p:nvSpPr>
        <p:spPr>
          <a:xfrm>
            <a:off x="731520" y="853440"/>
            <a:ext cx="10728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70" b="1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Herausforderungen</a:t>
            </a:r>
            <a:r>
              <a:rPr lang="en-US" sz="347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n-US" sz="3470" b="1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Risiken</a:t>
            </a:r>
            <a:endParaRPr lang="en-US" sz="3470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8797687F-7168-D729-4E25-638F658E50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774580"/>
              </p:ext>
            </p:extLst>
          </p:nvPr>
        </p:nvGraphicFramePr>
        <p:xfrm>
          <a:off x="731520" y="1645920"/>
          <a:ext cx="10972800" cy="4693920"/>
        </p:xfrm>
        <a:graphic>
          <a:graphicData uri="http://schemas.openxmlformats.org/drawingml/2006/table">
            <a:tbl>
              <a:tblPr/>
              <a:tblGrid>
                <a:gridCol w="2682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010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Risiko</a:t>
                      </a:r>
                      <a:endParaRPr lang="en-US" sz="1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Auswirkung</a:t>
                      </a:r>
                      <a:endParaRPr lang="en-US" sz="1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1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73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Dialekte und Sprachvarianz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STT-Fehler bei österr. Dialekten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Hochdeutsch-nahe KI-Sprachführung, Rückfragen, konservative Transkription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73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 err="1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Patientenakzeptanz</a:t>
                      </a:r>
                      <a:r>
                        <a:rPr lang="en-US" sz="16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(ältere Zielgruppe)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Ablehnung des KI-Anrufs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Validierung im Pilotbetrieb, Opt-in, empathisches Gesprächsdesign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73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Lange Sales-Zyklen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Verzögerter Markteintritt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Kostenlose Pilotphase (30–60 Tage), Fokus auf PVE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73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Einzelgründer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Kapazitätsengpass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Fokussierte Eigenentwicklung, schlanke Kosten, Entwickler ab 2028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73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Regulatorische Änderungen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Neueinstufung als Medizinprodukt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Klare Zweckbestimmung, kein diagnost. Eingriff, Physician-in-the-loop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73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Wettbewerber kopieren Voice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Differenzierungsverlust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First-Mover nutzen, Domänenfokus, Wechselkosten durch Integration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96914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9BCB0B-DAC9-7574-B0AA-0149F7E9E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37A05D5-E212-867C-52C2-820A544160E3}"/>
              </a:ext>
            </a:extLst>
          </p:cNvPr>
          <p:cNvSpPr/>
          <p:nvPr/>
        </p:nvSpPr>
        <p:spPr>
          <a:xfrm>
            <a:off x="0" y="0"/>
            <a:ext cx="12192000" cy="670560"/>
          </a:xfrm>
          <a:prstGeom prst="rect">
            <a:avLst/>
          </a:prstGeom>
          <a:solidFill>
            <a:srgbClr val="0E6B5F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4B77CF5-B060-AB7C-C632-9A89885006EC}"/>
              </a:ext>
            </a:extLst>
          </p:cNvPr>
          <p:cNvSpPr/>
          <p:nvPr/>
        </p:nvSpPr>
        <p:spPr>
          <a:xfrm>
            <a:off x="609600" y="60960"/>
            <a:ext cx="609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Preseed – Innovative Solutions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3B58A49B-B509-0AE9-D46D-69BDFD62C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720" y="85344"/>
            <a:ext cx="487680" cy="48768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B0E1B6A6-5F5E-7CBD-534D-F200C8B356E7}"/>
              </a:ext>
            </a:extLst>
          </p:cNvPr>
          <p:cNvSpPr/>
          <p:nvPr/>
        </p:nvSpPr>
        <p:spPr>
          <a:xfrm>
            <a:off x="11338560" y="6339840"/>
            <a:ext cx="60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B3BB6C6-BE17-D200-5DEC-32E5036BCEDB}"/>
              </a:ext>
            </a:extLst>
          </p:cNvPr>
          <p:cNvSpPr/>
          <p:nvPr/>
        </p:nvSpPr>
        <p:spPr>
          <a:xfrm>
            <a:off x="731520" y="853440"/>
            <a:ext cx="10728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7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</a:t>
            </a:r>
            <a:r>
              <a:rPr lang="en-US" sz="3470" b="1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Wachstum</a:t>
            </a:r>
            <a:endParaRPr lang="en-US" sz="347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8DD37997-1564-A545-1383-F532691F3A11}"/>
              </a:ext>
            </a:extLst>
          </p:cNvPr>
          <p:cNvSpPr/>
          <p:nvPr/>
        </p:nvSpPr>
        <p:spPr>
          <a:xfrm>
            <a:off x="609600" y="1798320"/>
            <a:ext cx="3291840" cy="1584960"/>
          </a:xfrm>
          <a:prstGeom prst="rect">
            <a:avLst/>
          </a:prstGeom>
          <a:solidFill>
            <a:srgbClr val="1B9E8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72CA139C-AFCF-63CB-23F1-D4ABF3D2DBFE}"/>
              </a:ext>
            </a:extLst>
          </p:cNvPr>
          <p:cNvSpPr/>
          <p:nvPr/>
        </p:nvSpPr>
        <p:spPr>
          <a:xfrm>
            <a:off x="1158240" y="1926336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F09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4000" dirty="0">
              <a:solidFill>
                <a:srgbClr val="F09819"/>
              </a:solidFill>
              <a:latin typeface="Calibri" panose="020F0502020204030204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0FC9FFBA-61E5-E05A-5A1F-EB009FD6B25A}"/>
              </a:ext>
            </a:extLst>
          </p:cNvPr>
          <p:cNvSpPr/>
          <p:nvPr/>
        </p:nvSpPr>
        <p:spPr>
          <a:xfrm>
            <a:off x="853440" y="2529840"/>
            <a:ext cx="304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Gründung</a:t>
            </a:r>
            <a:endParaRPr lang="en-US" sz="16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MVP-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Entwicklung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Abschluss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von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Pilotpartnerschaften</a:t>
            </a:r>
            <a:endParaRPr lang="en-US" sz="14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2AB1508-E880-C35D-848E-530B8E30CE06}"/>
              </a:ext>
            </a:extLst>
          </p:cNvPr>
          <p:cNvSpPr/>
          <p:nvPr/>
        </p:nvSpPr>
        <p:spPr>
          <a:xfrm>
            <a:off x="4005072" y="2407920"/>
            <a:ext cx="31699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dirty="0">
                <a:solidFill>
                  <a:srgbClr val="1B9E8B"/>
                </a:solidFill>
                <a:latin typeface="Calibri" panose="020F0502020204030204"/>
              </a:rPr>
              <a:t>▶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709F0C96-F446-55EE-3CD6-BF2A0E8DE81C}"/>
              </a:ext>
            </a:extLst>
          </p:cNvPr>
          <p:cNvSpPr/>
          <p:nvPr/>
        </p:nvSpPr>
        <p:spPr>
          <a:xfrm>
            <a:off x="4386072" y="1798320"/>
            <a:ext cx="3291840" cy="1584960"/>
          </a:xfrm>
          <a:prstGeom prst="rect">
            <a:avLst/>
          </a:prstGeom>
          <a:solidFill>
            <a:srgbClr val="1B9E8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6C4B5FB9-CC1A-312F-20B7-85EFAC5E9B20}"/>
              </a:ext>
            </a:extLst>
          </p:cNvPr>
          <p:cNvSpPr/>
          <p:nvPr/>
        </p:nvSpPr>
        <p:spPr>
          <a:xfrm>
            <a:off x="5422392" y="192024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F09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03993D67-3846-3F3F-842F-4B8708D1A3F5}"/>
              </a:ext>
            </a:extLst>
          </p:cNvPr>
          <p:cNvSpPr/>
          <p:nvPr/>
        </p:nvSpPr>
        <p:spPr>
          <a:xfrm>
            <a:off x="4511040" y="2529840"/>
            <a:ext cx="29489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Pilotbetrieb</a:t>
            </a:r>
            <a:endParaRPr lang="en-US" sz="16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Produktverbesserung</a:t>
            </a:r>
            <a:endParaRPr lang="en-US" sz="16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Gewinnung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erster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zahlender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Praxen </a:t>
            </a:r>
            <a:endParaRPr lang="en-US" sz="16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678D8383-8DAD-4D14-D76C-D9A7B213CBD8}"/>
              </a:ext>
            </a:extLst>
          </p:cNvPr>
          <p:cNvSpPr/>
          <p:nvPr/>
        </p:nvSpPr>
        <p:spPr>
          <a:xfrm>
            <a:off x="7764780" y="2407920"/>
            <a:ext cx="31699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dirty="0">
                <a:solidFill>
                  <a:srgbClr val="1B9E8B"/>
                </a:solidFill>
                <a:latin typeface="Calibri" panose="020F0502020204030204"/>
              </a:rPr>
              <a:t>▶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3C555EB3-BF48-2056-A43F-BE002DCB2EF3}"/>
              </a:ext>
            </a:extLst>
          </p:cNvPr>
          <p:cNvSpPr/>
          <p:nvPr/>
        </p:nvSpPr>
        <p:spPr>
          <a:xfrm>
            <a:off x="8107680" y="1798320"/>
            <a:ext cx="3291840" cy="1584960"/>
          </a:xfrm>
          <a:prstGeom prst="rect">
            <a:avLst/>
          </a:prstGeom>
          <a:solidFill>
            <a:srgbClr val="1B9E8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A0AB933E-EC65-AF8C-A9C6-813F30D6501E}"/>
              </a:ext>
            </a:extLst>
          </p:cNvPr>
          <p:cNvSpPr/>
          <p:nvPr/>
        </p:nvSpPr>
        <p:spPr>
          <a:xfrm>
            <a:off x="9144000" y="198120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F09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2028+</a:t>
            </a:r>
            <a:endParaRPr lang="en-US" sz="4000" dirty="0">
              <a:solidFill>
                <a:srgbClr val="F09819"/>
              </a:solidFill>
              <a:latin typeface="Calibri" panose="020F0502020204030204"/>
            </a:endParaRPr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34A64EAD-ED3A-C7CD-4ED3-6F98332DB43C}"/>
              </a:ext>
            </a:extLst>
          </p:cNvPr>
          <p:cNvSpPr/>
          <p:nvPr/>
        </p:nvSpPr>
        <p:spPr>
          <a:xfrm>
            <a:off x="8290560" y="2529840"/>
            <a:ext cx="304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Ausbau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Teams </a:t>
            </a:r>
          </a:p>
          <a:p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modulare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Erweiterung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Facharzt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DACH-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Skalierung</a:t>
            </a:r>
            <a:endParaRPr lang="en-US" sz="1600" dirty="0"/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8BBB41E8-D3E4-3DDB-D000-E1CFEDEE490C}"/>
              </a:ext>
            </a:extLst>
          </p:cNvPr>
          <p:cNvSpPr/>
          <p:nvPr/>
        </p:nvSpPr>
        <p:spPr>
          <a:xfrm>
            <a:off x="609600" y="3627120"/>
            <a:ext cx="5242560" cy="1158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B29276B2-7EAC-A27E-3749-B3394612E7B8}"/>
              </a:ext>
            </a:extLst>
          </p:cNvPr>
          <p:cNvSpPr/>
          <p:nvPr/>
        </p:nvSpPr>
        <p:spPr>
          <a:xfrm>
            <a:off x="609600" y="3627120"/>
            <a:ext cx="85344" cy="1158240"/>
          </a:xfrm>
          <a:prstGeom prst="rect">
            <a:avLst/>
          </a:prstGeom>
          <a:solidFill>
            <a:srgbClr val="1B9E8B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F240411B-0177-CC37-17CE-0D5507031D24}"/>
              </a:ext>
            </a:extLst>
          </p:cNvPr>
          <p:cNvSpPr/>
          <p:nvPr/>
        </p:nvSpPr>
        <p:spPr>
          <a:xfrm>
            <a:off x="914400" y="3858768"/>
            <a:ext cx="4754880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Wachstumsstrategie</a:t>
            </a:r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defTabSz="1219170"/>
            <a:endParaRPr lang="en-US" sz="1600" b="1" dirty="0">
              <a:solidFill>
                <a:srgbClr val="2D2D2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defTabSz="1219170"/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Start in Österreich → Traction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aufbauen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Skalierung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über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wiederkehrende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SaaS-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Umsätze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in den DACH-Raum</a:t>
            </a:r>
            <a:endParaRPr lang="en-US" sz="1600" dirty="0"/>
          </a:p>
          <a:p>
            <a:pPr defTabSz="1219170"/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45895E26-A7AF-0879-7ACD-4F719275AE98}"/>
              </a:ext>
            </a:extLst>
          </p:cNvPr>
          <p:cNvSpPr/>
          <p:nvPr/>
        </p:nvSpPr>
        <p:spPr>
          <a:xfrm>
            <a:off x="6339840" y="3627120"/>
            <a:ext cx="5242560" cy="1158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de-A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B42BF3A7-1961-BCDA-3664-FFE7A22F126B}"/>
              </a:ext>
            </a:extLst>
          </p:cNvPr>
          <p:cNvSpPr/>
          <p:nvPr/>
        </p:nvSpPr>
        <p:spPr>
          <a:xfrm>
            <a:off x="6339840" y="3627120"/>
            <a:ext cx="85344" cy="1158240"/>
          </a:xfrm>
          <a:prstGeom prst="rect">
            <a:avLst/>
          </a:prstGeom>
          <a:solidFill>
            <a:srgbClr val="1B9E8B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18">
            <a:extLst>
              <a:ext uri="{FF2B5EF4-FFF2-40B4-BE49-F238E27FC236}">
                <a16:creationId xmlns:a16="http://schemas.microsoft.com/office/drawing/2014/main" id="{3D6BB525-82BE-A826-FE1C-B8CACB24B5FC}"/>
              </a:ext>
            </a:extLst>
          </p:cNvPr>
          <p:cNvSpPr/>
          <p:nvPr/>
        </p:nvSpPr>
        <p:spPr>
          <a:xfrm>
            <a:off x="6559296" y="3858768"/>
            <a:ext cx="4754880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Finanzierungspfad</a:t>
            </a:r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defTabSz="1219170"/>
            <a:endParaRPr lang="en-US" sz="1600" b="1" dirty="0">
              <a:solidFill>
                <a:srgbClr val="2D2D2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PreSeed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) →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Marktvalidierung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→ Seed-Runde für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internationalen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Rollout und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Teamaufbau</a:t>
            </a:r>
            <a:endParaRPr lang="en-US" sz="2400" dirty="0"/>
          </a:p>
          <a:p>
            <a:pPr defTabSz="1219170"/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DDF9604E-99D7-3B18-6949-7400DDB19BA2}"/>
              </a:ext>
            </a:extLst>
          </p:cNvPr>
          <p:cNvSpPr/>
          <p:nvPr/>
        </p:nvSpPr>
        <p:spPr>
          <a:xfrm>
            <a:off x="694944" y="5364480"/>
            <a:ext cx="10963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09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en-US" sz="2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Jedes Patientengespräch beginnt besser vorbereitet – strukturierter für die Praxis, zugänglicher und würdevoller für die Patient:innen.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0572447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70560"/>
          </a:xfrm>
          <a:prstGeom prst="rect">
            <a:avLst/>
          </a:prstGeom>
          <a:solidFill>
            <a:srgbClr val="0E6B5F"/>
          </a:solidFill>
          <a:ln/>
        </p:spPr>
        <p:txBody>
          <a:bodyPr/>
          <a:lstStyle/>
          <a:p>
            <a:pPr defTabSz="1219170"/>
            <a:endParaRPr lang="de-AT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60960"/>
            <a:ext cx="609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Preseed – Innovative Solutions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720" y="85344"/>
            <a:ext cx="487680" cy="48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853440"/>
            <a:ext cx="10728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7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</a:t>
            </a:r>
            <a:endParaRPr lang="en-US" sz="347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4"/>
          <p:cNvSpPr/>
          <p:nvPr/>
        </p:nvSpPr>
        <p:spPr>
          <a:xfrm>
            <a:off x="731520" y="1499616"/>
            <a:ext cx="1072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Österreichische Ärztekammer. (2024). Ausbildungsevaluierung 2024: Ärztliche Arbeitszeit und Administrationsbelastung (Auswertung durch ETH Zürich). Wien.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731520" y="1792224"/>
            <a:ext cx="1072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OECD Health Statistics (2023): Konsultationszeiten im internationalen Vergleich. Österreich: Durchschnitt 5 Minuten.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6"/>
          <p:cNvSpPr/>
          <p:nvPr/>
        </p:nvSpPr>
        <p:spPr>
          <a:xfrm>
            <a:off x="731520" y="2066544"/>
            <a:ext cx="1072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Statistik Austria (2023): IKT-Nutzung in Haushalten. 23 % der über 65-Jährigen ohne regelmäßige Smartphone-Nutzung.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31520" y="2401824"/>
            <a:ext cx="1072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Peterson MC et al. (1992): „Contributions of the history, physical examination and laboratory investigation in making medical diagnoses.“ Western Journal of Medicine, 156(2), 163–165. – 82,5 % Diagnosen via Anamnese.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31520" y="2801112"/>
            <a:ext cx="1072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Lim, J. Y., Kim, Y., Park, J., &amp; Lee, S. (2026). How does medical artificial intelligence revolutionize physician productivity? Yonsei Medical Journal, 67(1). Moura, L., et al. (2025). Hybrid ambient clinical documentation and physician performance. Journal of General Internal Medicine.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31520" y="3121152"/>
            <a:ext cx="1072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Österreichische Ärztekammer (2024): Ärztestatistik – 52.000+ berufsausübende Ärzt:innen in Österreich.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31520" y="3368040"/>
            <a:ext cx="1072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European Commission (2024): European Health Data Space (EHDS) – Regulation Proposal and Factsheet. Brussels.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31520" y="3602736"/>
            <a:ext cx="1072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BMG Österreich (2024): Nationale eHealth-Strategie und Primärversorgungseinheiten (PVEs).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31520" y="3764280"/>
            <a:ext cx="1072896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spcAft>
                <a:spcPts val="800"/>
              </a:spcAft>
            </a:pPr>
            <a:r>
              <a:rPr lang="en-US" sz="10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Grand View Research (2023): Voice AI in Healthcare Market Size, Share &amp; Trends Analysis Report, 2023–2030. San Francisco.</a:t>
            </a:r>
          </a:p>
          <a:p>
            <a:pPr defTabSz="1219170">
              <a:spcAft>
                <a:spcPts val="800"/>
              </a:spcAft>
            </a:pPr>
            <a:r>
              <a:rPr lang="en-US" sz="10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Statista Market Forecast (2024): Digital Health – Austria. Marktvolumen und Segmentierung.</a:t>
            </a:r>
          </a:p>
          <a:p>
            <a:pPr defTabSz="1219170">
              <a:spcAft>
                <a:spcPts val="800"/>
              </a:spcAft>
            </a:pPr>
            <a:r>
              <a:rPr lang="en-US" sz="10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Signify Research (2024): EHR Market Growth Opportunities Across the DACH Region. – SOM-Ableitung Markteintritt.</a:t>
            </a:r>
          </a:p>
          <a:p>
            <a:pPr defTabSz="1219170">
              <a:spcAft>
                <a:spcPts val="800"/>
              </a:spcAft>
            </a:pPr>
            <a:r>
              <a:rPr lang="en-US" sz="10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Irving G. et al. (2017): International Variations in Primary Care Physician Consultation Time. BMJ Open, 7(10).</a:t>
            </a:r>
          </a:p>
          <a:p>
            <a:pPr defTabSz="1219170">
              <a:spcAft>
                <a:spcPts val="800"/>
              </a:spcAft>
            </a:pPr>
            <a:r>
              <a:rPr lang="en-US" sz="10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Österreichische Ärztekammer (2024–2025): Kassenstellenentwicklung und Ärztemangel in Österreich.</a:t>
            </a:r>
          </a:p>
          <a:p>
            <a:pPr defTabSz="1219170">
              <a:spcAft>
                <a:spcPts val="800"/>
              </a:spcAft>
            </a:pPr>
            <a:r>
              <a:rPr lang="en-US" sz="10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Plattform Primärversorgung (2025): PVE-Ausbau in Österreich – Förderstruktur und EU-Mittel.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2095</Words>
  <Application>Microsoft Office PowerPoint</Application>
  <PresentationFormat>Breitbild</PresentationFormat>
  <Paragraphs>404</Paragraphs>
  <Slides>20</Slides>
  <Notes>19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20</vt:i4>
      </vt:variant>
    </vt:vector>
  </HeadingPairs>
  <TitlesOfParts>
    <vt:vector size="25" baseType="lpstr">
      <vt:lpstr>Aptos</vt:lpstr>
      <vt:lpstr>Arial</vt:lpstr>
      <vt:lpstr>Calibri</vt:lpstr>
      <vt:lpstr>Office Theme</vt:lpstr>
      <vt:lpstr>1_Office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Fehringer Michaela</dc:creator>
  <cp:lastModifiedBy>Fehringer Michaela</cp:lastModifiedBy>
  <cp:revision>25</cp:revision>
  <dcterms:created xsi:type="dcterms:W3CDTF">2026-03-19T13:14:40Z</dcterms:created>
  <dcterms:modified xsi:type="dcterms:W3CDTF">2026-03-20T13:07:01Z</dcterms:modified>
</cp:coreProperties>
</file>